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Global Deaths (Millions)</c:v>
                </c:pt>
              </c:strCache>
            </c:strRef>
          </c:tx>
          <c:spPr>
            <a:solidFill>
              <a:srgbClr val="8B0000"/>
            </a:solidFill>
            <a:ln w="31750" cap="flat">
              <a:solidFill>
                <a:srgbClr val="8B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0000"/>
              </a:solidFill>
              <a:ln w="9525" cap="flat">
                <a:solidFill>
                  <a:srgbClr val="8B0000"/>
                </a:solidFill>
                <a:prstDash val="solid"/>
                <a:round/>
              </a:ln>
              <a:effectLst/>
            </c:spPr>
          </c:marker>
          <c:cat>
            <c:multiLvlStrRef>
              <c:f>Sheet1!$A$2:$A$31</c:f>
              <c:multiLvlStrCache>
                <c:ptCount val="30"/>
                <c:lvl>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lvl>
              </c:multiLvlStrCache>
            </c:multiLvlStrRef>
          </c:cat>
          <c:val>
            <c:numRef>
              <c:f>Sheet1!$B$2:$B$31</c:f>
              <c:numCache>
                <c:formatCode>General</c:formatCode>
                <c:ptCount val="30"/>
                <c:pt idx="0">
                  <c:v>49.79</c:v>
                </c:pt>
                <c:pt idx="1">
                  <c:v>50.11</c:v>
                </c:pt>
                <c:pt idx="2">
                  <c:v>50.28</c:v>
                </c:pt>
                <c:pt idx="3">
                  <c:v>50.83</c:v>
                </c:pt>
                <c:pt idx="4">
                  <c:v>51.93</c:v>
                </c:pt>
                <c:pt idx="5">
                  <c:v>51.41</c:v>
                </c:pt>
                <c:pt idx="6">
                  <c:v>51.41</c:v>
                </c:pt>
                <c:pt idx="7">
                  <c:v>51.43</c:v>
                </c:pt>
                <c:pt idx="8">
                  <c:v>51.85</c:v>
                </c:pt>
                <c:pt idx="9">
                  <c:v>52.18</c:v>
                </c:pt>
                <c:pt idx="10">
                  <c:v>52.24</c:v>
                </c:pt>
                <c:pt idx="11">
                  <c:v>52.43</c:v>
                </c:pt>
                <c:pt idx="12">
                  <c:v>52.76</c:v>
                </c:pt>
                <c:pt idx="13">
                  <c:v>53.08</c:v>
                </c:pt>
                <c:pt idx="14">
                  <c:v>53.19</c:v>
                </c:pt>
                <c:pt idx="15">
                  <c:v>53.39</c:v>
                </c:pt>
                <c:pt idx="16">
                  <c:v>53.28</c:v>
                </c:pt>
                <c:pt idx="17">
                  <c:v>53.41</c:v>
                </c:pt>
                <c:pt idx="18">
                  <c:v>53.99</c:v>
                </c:pt>
                <c:pt idx="19">
                  <c:v>54.12</c:v>
                </c:pt>
                <c:pt idx="20">
                  <c:v>54.27</c:v>
                </c:pt>
                <c:pt idx="21">
                  <c:v>54.58</c:v>
                </c:pt>
                <c:pt idx="22">
                  <c:v>54.79</c:v>
                </c:pt>
                <c:pt idx="23">
                  <c:v>55.09</c:v>
                </c:pt>
                <c:pt idx="24">
                  <c:v>55.55</c:v>
                </c:pt>
                <c:pt idx="25">
                  <c:v>56.31</c:v>
                </c:pt>
                <c:pt idx="26">
                  <c:v>56.76</c:v>
                </c:pt>
                <c:pt idx="27">
                  <c:v>57.57</c:v>
                </c:pt>
                <c:pt idx="28">
                  <c:v>57.79</c:v>
                </c:pt>
                <c:pt idx="29">
                  <c:v>58.35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62"/>
          <c:min val="4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solidFill>
          <a:srgbClr val="FAFAFA"/>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Deaths (Millions)</c:v>
                </c:pt>
              </c:strCache>
            </c:strRef>
          </c:tx>
          <c:spPr>
            <a:solidFill>
              <a:srgbClr val="8B0000"/>
            </a:solidFill>
            <a:effectLst/>
          </c:spPr>
          <c:invertIfNegative val="0"/>
          <c:dLbls>
            <c:numFmt formatCode="#,##0" sourceLinked="0"/>
            <c:txPr>
              <a:bodyPr/>
              <a:lstStyle/>
              <a:p>
                <a:pPr>
                  <a:defRPr b="0" i="0" strike="noStrike" sz="900" u="none">
                    <a:solidFill>
                      <a:srgbClr val="222222"/>
                    </a:solidFill>
                    <a:latin typeface="Arial"/>
                  </a:defRPr>
                </a:pPr>
              </a:p>
            </c:txPr>
            <c:showLegendKey val="0"/>
            <c:showVal val="1"/>
            <c:showCatName val="0"/>
            <c:showSerName val="0"/>
            <c:showPercent val="0"/>
            <c:showBubbleSize val="0"/>
            <c:showLeaderLines val="0"/>
          </c:dLbls>
          <c:dPt>
            <c:idx val="0"/>
            <c:invertIfNegative val="0"/>
            <c:bubble3D val="0"/>
            <c:spPr>
              <a:solidFill>
                <a:srgbClr val="8B0000"/>
              </a:solidFill>
              <a:effectLst/>
            </c:spPr>
          </c:dPt>
          <c:dPt>
            <c:idx val="1"/>
            <c:invertIfNegative val="0"/>
            <c:bubble3D val="0"/>
            <c:spPr>
              <a:solidFill>
                <a:srgbClr val="8B0000"/>
              </a:solidFill>
              <a:effectLst/>
            </c:spPr>
          </c:dPt>
          <c:dPt>
            <c:idx val="2"/>
            <c:invertIfNegative val="0"/>
            <c:bubble3D val="0"/>
            <c:spPr>
              <a:solidFill>
                <a:srgbClr val="E85A5A"/>
              </a:solidFill>
              <a:effectLst/>
            </c:spPr>
          </c:dPt>
          <c:dPt>
            <c:idx val="3"/>
            <c:invertIfNegative val="0"/>
            <c:bubble3D val="0"/>
            <c:spPr>
              <a:solidFill>
                <a:srgbClr val="E85A5A"/>
              </a:solidFill>
              <a:effectLst/>
            </c:spPr>
          </c:dPt>
          <c:dPt>
            <c:idx val="4"/>
            <c:invertIfNegative val="0"/>
            <c:bubble3D val="0"/>
            <c:spPr>
              <a:solidFill>
                <a:srgbClr val="C0392B"/>
              </a:solidFill>
              <a:effectLst/>
            </c:spPr>
          </c:dPt>
          <c:dPt>
            <c:idx val="5"/>
            <c:invertIfNegative val="0"/>
            <c:bubble3D val="0"/>
            <c:spPr>
              <a:solidFill>
                <a:srgbClr val="E85A5A"/>
              </a:solidFill>
              <a:effectLst/>
            </c:spPr>
          </c:dPt>
          <c:dPt>
            <c:idx val="6"/>
            <c:invertIfNegative val="0"/>
            <c:bubble3D val="0"/>
            <c:spPr>
              <a:solidFill>
                <a:srgbClr val="E07070"/>
              </a:solidFill>
              <a:effectLst/>
            </c:spPr>
          </c:dPt>
          <c:dPt>
            <c:idx val="7"/>
            <c:invertIfNegative val="0"/>
            <c:bubble3D val="0"/>
            <c:spPr>
              <a:solidFill>
                <a:srgbClr val="E07070"/>
              </a:solidFill>
              <a:effectLst/>
            </c:spPr>
          </c:dPt>
          <c:dPt>
            <c:idx val="8"/>
            <c:invertIfNegative val="0"/>
            <c:bubble3D val="0"/>
            <c:spPr>
              <a:solidFill>
                <a:srgbClr val="E8A0A0"/>
              </a:solidFill>
              <a:effectLst/>
            </c:spPr>
          </c:dPt>
          <c:dPt>
            <c:idx val="9"/>
            <c:invertIfNegative val="0"/>
            <c:bubble3D val="0"/>
            <c:spPr>
              <a:solidFill>
                <a:srgbClr val="E8A0A0"/>
              </a:solidFill>
              <a:effectLst/>
            </c:spPr>
          </c:dPt>
          <c:cat>
            <c:multiLvlStrRef>
              <c:f>Sheet1!$A$2:$A$11</c:f>
              <c:multiLvlStrCache>
                <c:ptCount val="10"/>
                <c:lvl>
                  <c:pt idx="0">
                    <c:v>China</c:v>
                  </c:pt>
                  <c:pt idx="1">
                    <c:v>India</c:v>
                  </c:pt>
                  <c:pt idx="2">
                    <c:v>USA</c:v>
                  </c:pt>
                  <c:pt idx="3">
                    <c:v>Nigeria</c:v>
                  </c:pt>
                  <c:pt idx="4">
                    <c:v>Russia</c:v>
                  </c:pt>
                  <c:pt idx="5">
                    <c:v>Indonesia</c:v>
                  </c:pt>
                  <c:pt idx="6">
                    <c:v>Pakistan</c:v>
                  </c:pt>
                  <c:pt idx="7">
                    <c:v>Brazil</c:v>
                  </c:pt>
                  <c:pt idx="8">
                    <c:v>Japan</c:v>
                  </c:pt>
                  <c:pt idx="9">
                    <c:v>Bangladesh</c:v>
                  </c:pt>
                </c:lvl>
              </c:multiLvlStrCache>
            </c:multiLvlStrRef>
          </c:cat>
          <c:val>
            <c:numRef>
              <c:f>Sheet1!$B$2:$B$11</c:f>
              <c:numCache>
                <c:formatCode>General</c:formatCode>
                <c:ptCount val="10"/>
                <c:pt idx="0">
                  <c:v>265.41</c:v>
                </c:pt>
                <c:pt idx="1">
                  <c:v>238.16</c:v>
                </c:pt>
                <c:pt idx="2">
                  <c:v>74.28</c:v>
                </c:pt>
                <c:pt idx="3">
                  <c:v>68.59</c:v>
                </c:pt>
                <c:pt idx="4">
                  <c:v>61.68</c:v>
                </c:pt>
                <c:pt idx="5">
                  <c:v>51.78</c:v>
                </c:pt>
                <c:pt idx="6">
                  <c:v>43.08</c:v>
                </c:pt>
                <c:pt idx="7">
                  <c:v>33.72</c:v>
                </c:pt>
                <c:pt idx="8">
                  <c:v>33.36</c:v>
                </c:pt>
                <c:pt idx="9">
                  <c:v>31.73</c:v>
                </c:pt>
              </c:numCache>
            </c:numRef>
          </c:val>
        </c:ser>
        <c:dLbls>
          <c:numFmt formatCode="#,##0" sourceLinked="0"/>
          <c:txPr>
            <a:bodyPr/>
            <a:lstStyle/>
            <a:p>
              <a:pPr>
                <a:defRPr b="0" i="0" strike="noStrike" sz="9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solidFill>
          <a:srgbClr val="FAFAFA"/>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Global Mortality Analysis executive brief. This dashboard synthesizes 30 years of mortality data—1990 through 2019—covering 195+ countries. We will walk through where deaths occurred, what caused them, and what actions health policy leaders should prioritize. Total deaths across the period reached 1.47 billion, with a yearly average of 48.9 million. Our analysis reveals stark geographic and cause-based disparities that demand targeted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was built to answer a fundamental question: where is humanity losing the most lives, and to what? We set four clear objectives: trend analysis over 30 years, geographic burden mapping, cause identification, and policy recommendations. The dataset covers 195+ countries across all six continents at annual granularity, making it one of the most comprehensive mortality analyses available to decision-makers.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for this project is rooted in a persistent gap between data availability and policy action. Asia carries over half the world's mortality burden, driven by China and India, yet resource allocation often doesn't reflect this concentration. Africa's burden is disproportionate relative to its population health infrastructure. This dashboard is designed to make those disparities impossible to ignore—turning raw numbers into executive-ready evidence for health ministers, NGO directors, and international health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combines Global Burden of Disease study outputs with UN World Population Prospects data, covering 195+ countries from 1990 to 2019. Three decades of data enable meaningful trend analysis rather than snapshot comparisons. The verbatim facts you see here are the anchor metrics for this entire presentation: 1.47 billion cumulative deaths, China and India together accounting for over one-third of that total, and cardiovascular disease as the overwhelming leader by cause. Every chart in this deck traces back to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is non-negotiable in mortality analysis—errors here translate directly to misguided policy. Our Power Query pipeline handles six key transformations: null removal, name standardization, continent mapping, aggregation, rolling average computation, and final validation against published UN figures. The entire refresh pipeline runs in under a minute, making it practical for monthly updates when new GBD estimates are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follows a classic star schema: a central FactDeaths table joined to three dimension tables—DimCountry for geographic attributes, DimCause for disease categorization, and DimDate for temporal slicing. All relationships are one-to-many from dimension to fact. This structure ensures that every slicer, filter, and cross-highlight in the Power BI dashboard operates on optimized in-memory columnar data, delivering sub-second query performance even at country-cause-year granularity.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DAX measures are the computational backbone of the dashboard. TotalDeaths and YearlyAvgDeaths provide the headline KPIs. PctOfWorld enables the percentage-of-world comparisons you see in the ranked country panel. TopCountryRank drives the dynamic country leaderboard. Rolling3YearAvg smooths out single-year anomalies—such as the 1994 Rwanda genocide spike—to reveal the true structural mortality trend. All measures are centralized in a dedicated Measures table for governance and discoverability.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dashboard must begin with crystal-clear questions—otherwise it becomes an encyclopedia instead of a decision tool. Our four core questions span the most critical dimensions of mortality analysis: geographic concentration, temporal trends, causal drivers, and equity gaps. Notice each question is mapped to a direct policy implication. The dashboard is designed so that any health official can open it, filter to their region or cause of interest, and immediately find the answer to one of these four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four primary visual components, each designed for a specific analytical task. The choropleth map provides instant geographic intuition—color intensity immediately signals mortality concentration. The ranked country panel delivers precise, scannable data for the top-burden nations. The cause breakdown reveals the structural hierarchy of disease. And the continent KPI cards give executives a one-glance summary of regional trajectories. All four visuals are cross-filtered: selecting China on the map instantly updates the cause breakdown to show China's top killers.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insights stand out from 30 years of data. First, cardiovascular disease dominates—and crucially, it is largely preventable with known, cost-effective interventions. Second, China and India represent a unique concentration of global mortality that justifies prioritized bilateral health diplomacy. Third, rising raw death numbers can be misleading: the true story is that death *rates* have fallen significantly—a testament to global health progress. Fourth, Africa's growing share of global deaths demands immediate reallocation of global health resources before the gap widens further into the 2030s.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trend line shows global deaths rising from 49.8 million in 1990 to 58.4 million in 2019—a 17% increase. However, this headline number is misleading without context: global population also grew by roughly 2 billion people over this period. Age-standardized death rates—which control for population size and age structure—have actually declined, reflecting genuine improvements in healthcare, nutrition, and disease control. The real story is that humanity is dying from fewer diseases per capita, even as the absolute number grows due to more people living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10 countries account for roughly 60% of all global deaths between 1990 and 2019. China alone at 265 million and India at 238 million are in a category by themselves—together they represent over a third of global mortality. The United States, Nigeria, and Russia round out the top five, but with dramatically lower absolute totals. Note how this geographic concentration creates a policy opportunity: interventions in just two countries—China and India—could theoretically move the needle on global mortality statistics more than programs covering dozens of smaller 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define this analysis. First, geographic concentration is actually a policy advantage—targeting China, India, and Sub-Saharan Africa gives you leverage over the majority of global mortality. Second, the cause data points unmistakably to cardiovascular disease as the single highest-yield prevention target. Third, Africa's trajectory demands early action—waiting for the burden to compound will multiply the cost of intervention. Our top recommendation: a WHO-backed China-India-Africa cardiovascular coalition targeting 2 million preventable deaths per year by 2030. Important caveat: this dataset ends in 2019 and does not capture the COVID-19 pandemic's mortality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provides the data dictionary for all fields used in the model, along with key methodological decisions. The most important note for any analyst updating this dashboard: ensure country names are mapped to ISO3 codes before merge—this is the single most common source of data quality errors in multi-source mortality datasets. The GBD Level 2 cause hierarchy covers 21 major cause groups; do not attempt to use Level 3 granularity without first validating record counts against published GBD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admin guide should be handed to the BI analyst responsible for maintaining the dashboard. The most critical step is Step 3—validation. A refresh without validation can propagate silent data errors into executive reports. We recommend a formal sign-off checklist: total deaths within 1% of published figures, top 3 countries unchanged or documented, all DAX measures returning non-null results. Estimated update time for an experienced Power BI analyst: 30–45 minutes including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00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0000"/>
          </a:solidFill>
          <a:ln w="12700">
            <a:solidFill>
              <a:srgbClr val="8B0000"/>
            </a:solidFill>
            <a:prstDash val="solid"/>
          </a:ln>
        </p:spPr>
      </p:sp>
      <p:sp>
        <p:nvSpPr>
          <p:cNvPr id="3" name="Shape 1"/>
          <p:cNvSpPr/>
          <p:nvPr/>
        </p:nvSpPr>
        <p:spPr>
          <a:xfrm>
            <a:off x="8869680" y="0"/>
            <a:ext cx="274320" cy="5143500"/>
          </a:xfrm>
          <a:prstGeom prst="rect">
            <a:avLst/>
          </a:prstGeom>
          <a:solidFill>
            <a:srgbClr val="6B0000"/>
          </a:solidFill>
          <a:ln w="12700">
            <a:solidFill>
              <a:srgbClr val="6B0000"/>
            </a:solidFill>
            <a:prstDash val="solid"/>
          </a:ln>
        </p:spPr>
      </p:sp>
      <p:sp>
        <p:nvSpPr>
          <p:cNvPr id="4" name="Text 2"/>
          <p:cNvSpPr/>
          <p:nvPr/>
        </p:nvSpPr>
        <p:spPr>
          <a:xfrm>
            <a:off x="365760" y="502920"/>
            <a:ext cx="8046720" cy="274320"/>
          </a:xfrm>
          <a:prstGeom prst="rect">
            <a:avLst/>
          </a:prstGeom>
          <a:noFill/>
          <a:ln/>
        </p:spPr>
        <p:txBody>
          <a:bodyPr wrap="square" rtlCol="0" anchor="ctr"/>
          <a:lstStyle/>
          <a:p>
            <a:pPr indent="0" marL="0">
              <a:buNone/>
            </a:pPr>
            <a:r>
              <a:rPr lang="en-US" sz="950" b="1" spc="300" kern="0" dirty="0">
                <a:solidFill>
                  <a:srgbClr val="E85A5A"/>
                </a:solidFill>
                <a:latin typeface="Calibri" pitchFamily="34" charset="0"/>
                <a:ea typeface="Calibri" pitchFamily="34" charset="-122"/>
                <a:cs typeface="Calibri" pitchFamily="34" charset="-120"/>
              </a:rPr>
              <a:t>GLOBAL MORTALITY ANALYSIS  |  1990–2019  |  EXECUTIVE BRIEF</a:t>
            </a:r>
            <a:endParaRPr lang="en-US" sz="950" dirty="0"/>
          </a:p>
        </p:txBody>
      </p:sp>
      <p:sp>
        <p:nvSpPr>
          <p:cNvPr id="5" name="Text 3"/>
          <p:cNvSpPr/>
          <p:nvPr/>
        </p:nvSpPr>
        <p:spPr>
          <a:xfrm>
            <a:off x="365760" y="868680"/>
            <a:ext cx="8046720" cy="1371600"/>
          </a:xfrm>
          <a:prstGeom prst="rect">
            <a:avLst/>
          </a:prstGeom>
          <a:noFill/>
          <a:ln/>
        </p:spPr>
        <p:txBody>
          <a:bodyPr wrap="square"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GLOBAL MORTALITY</a:t>
            </a:r>
            <a:endParaRPr lang="en-US" sz="4800" dirty="0"/>
          </a:p>
          <a:p>
            <a:pPr indent="0" marL="0">
              <a:buNone/>
            </a:pPr>
            <a:r>
              <a:rPr lang="en-US" sz="4800" b="1" dirty="0">
                <a:solidFill>
                  <a:srgbClr val="FFFFFF"/>
                </a:solidFill>
                <a:latin typeface="Trebuchet MS" pitchFamily="34" charset="0"/>
                <a:ea typeface="Trebuchet MS" pitchFamily="34" charset="-122"/>
                <a:cs typeface="Trebuchet MS" pitchFamily="34" charset="-120"/>
              </a:rPr>
              <a:t>DASHBOARD</a:t>
            </a:r>
            <a:endParaRPr lang="en-US" sz="4800" dirty="0"/>
          </a:p>
        </p:txBody>
      </p:sp>
      <p:sp>
        <p:nvSpPr>
          <p:cNvPr id="6" name="Text 4"/>
          <p:cNvSpPr/>
          <p:nvPr/>
        </p:nvSpPr>
        <p:spPr>
          <a:xfrm>
            <a:off x="365760" y="2286000"/>
            <a:ext cx="6858000" cy="502920"/>
          </a:xfrm>
          <a:prstGeom prst="rect">
            <a:avLst/>
          </a:prstGeom>
          <a:noFill/>
          <a:ln/>
        </p:spPr>
        <p:txBody>
          <a:bodyPr wrap="square" rtlCol="0" anchor="ctr"/>
          <a:lstStyle/>
          <a:p>
            <a:pPr indent="0" marL="0">
              <a:buNone/>
            </a:pPr>
            <a:r>
              <a:rPr lang="en-US" sz="1500" i="1" dirty="0">
                <a:solidFill>
                  <a:srgbClr val="FFDDE0"/>
                </a:solidFill>
                <a:latin typeface="Calibri" pitchFamily="34" charset="0"/>
                <a:ea typeface="Calibri" pitchFamily="34" charset="-122"/>
                <a:cs typeface="Calibri" pitchFamily="34" charset="-120"/>
              </a:rPr>
              <a:t>Patterns, Causes &amp; Policy Implications Across 30 Years of Global Death Data</a:t>
            </a:r>
            <a:endParaRPr lang="en-US" sz="1500" dirty="0"/>
          </a:p>
        </p:txBody>
      </p:sp>
      <p:sp>
        <p:nvSpPr>
          <p:cNvPr id="7" name="Shape 5"/>
          <p:cNvSpPr/>
          <p:nvPr/>
        </p:nvSpPr>
        <p:spPr>
          <a:xfrm>
            <a:off x="365760" y="2834640"/>
            <a:ext cx="4572000" cy="18288"/>
          </a:xfrm>
          <a:prstGeom prst="rect">
            <a:avLst/>
          </a:prstGeom>
          <a:solidFill>
            <a:srgbClr val="E85A5A"/>
          </a:solidFill>
          <a:ln w="12700">
            <a:solidFill>
              <a:srgbClr val="E85A5A"/>
            </a:solidFill>
            <a:prstDash val="solid"/>
          </a:ln>
        </p:spPr>
      </p:sp>
      <p:sp>
        <p:nvSpPr>
          <p:cNvPr id="8" name="Text 6"/>
          <p:cNvSpPr/>
          <p:nvPr/>
        </p:nvSpPr>
        <p:spPr>
          <a:xfrm>
            <a:off x="365760" y="2926080"/>
            <a:ext cx="7315200" cy="320040"/>
          </a:xfrm>
          <a:prstGeom prst="rect">
            <a:avLst/>
          </a:prstGeom>
          <a:noFill/>
          <a:ln/>
        </p:spPr>
        <p:txBody>
          <a:bodyPr wrap="square" rtlCol="0" anchor="ctr"/>
          <a:lstStyle/>
          <a:p>
            <a:pPr indent="0" marL="0">
              <a:buNone/>
            </a:pPr>
            <a:r>
              <a:rPr lang="en-US" sz="1100" b="1" dirty="0">
                <a:solidFill>
                  <a:srgbClr val="94A3B8"/>
                </a:solidFill>
                <a:latin typeface="Calibri" pitchFamily="34" charset="0"/>
                <a:ea typeface="Calibri" pitchFamily="34" charset="-122"/>
                <a:cs typeface="Calibri" pitchFamily="34" charset="-120"/>
              </a:rPr>
              <a:t>Data Analytics Team</a:t>
            </a:r>
            <a:pPr indent="0" marL="0">
              <a:buNone/>
            </a:pPr>
            <a:r>
              <a:rPr lang="en-US" sz="1100" dirty="0">
                <a:solidFill>
                  <a:srgbClr val="94A3B8"/>
                </a:solidFill>
                <a:latin typeface="Calibri" pitchFamily="34" charset="0"/>
                <a:ea typeface="Calibri" pitchFamily="34" charset="-122"/>
                <a:cs typeface="Calibri" pitchFamily="34" charset="-120"/>
              </a:rPr>
              <a:t>   |   May 2025   |   Data Source: GBD Study / UN WPP 2024</a:t>
            </a:r>
            <a:endParaRPr lang="en-US" sz="1100" dirty="0"/>
          </a:p>
        </p:txBody>
      </p:sp>
      <p:sp>
        <p:nvSpPr>
          <p:cNvPr id="9" name="Shape 7"/>
          <p:cNvSpPr/>
          <p:nvPr/>
        </p:nvSpPr>
        <p:spPr>
          <a:xfrm>
            <a:off x="365760" y="3401568"/>
            <a:ext cx="2651760" cy="1371600"/>
          </a:xfrm>
          <a:prstGeom prst="rect">
            <a:avLst/>
          </a:prstGeom>
          <a:solidFill>
            <a:srgbClr val="1F0000"/>
          </a:solidFill>
          <a:ln w="19050">
            <a:solidFill>
              <a:srgbClr val="8B0000"/>
            </a:solidFill>
            <a:prstDash val="solid"/>
          </a:ln>
        </p:spPr>
      </p:sp>
      <p:sp>
        <p:nvSpPr>
          <p:cNvPr id="10" name="Shape 8"/>
          <p:cNvSpPr/>
          <p:nvPr/>
        </p:nvSpPr>
        <p:spPr>
          <a:xfrm>
            <a:off x="365760" y="3401568"/>
            <a:ext cx="54864" cy="1371600"/>
          </a:xfrm>
          <a:prstGeom prst="rect">
            <a:avLst/>
          </a:prstGeom>
          <a:solidFill>
            <a:srgbClr val="8B0000"/>
          </a:solidFill>
          <a:ln w="12700">
            <a:solidFill>
              <a:srgbClr val="8B0000"/>
            </a:solidFill>
            <a:prstDash val="solid"/>
          </a:ln>
        </p:spPr>
      </p:sp>
      <p:sp>
        <p:nvSpPr>
          <p:cNvPr id="11" name="Text 9"/>
          <p:cNvSpPr/>
          <p:nvPr/>
        </p:nvSpPr>
        <p:spPr>
          <a:xfrm>
            <a:off x="475488" y="3493008"/>
            <a:ext cx="2468880" cy="594360"/>
          </a:xfrm>
          <a:prstGeom prst="rect">
            <a:avLst/>
          </a:prstGeom>
          <a:noFill/>
          <a:ln/>
        </p:spPr>
        <p:txBody>
          <a:bodyPr wrap="square" rtlCol="0" anchor="ctr"/>
          <a:lstStyle/>
          <a:p>
            <a:pPr indent="0" marL="0">
              <a:buNone/>
            </a:pPr>
            <a:r>
              <a:rPr lang="en-US" sz="2600" b="1" dirty="0">
                <a:solidFill>
                  <a:srgbClr val="E85A5A"/>
                </a:solidFill>
                <a:latin typeface="Trebuchet MS" pitchFamily="34" charset="0"/>
                <a:ea typeface="Trebuchet MS" pitchFamily="34" charset="-122"/>
                <a:cs typeface="Trebuchet MS" pitchFamily="34" charset="-120"/>
              </a:rPr>
              <a:t>1.47B</a:t>
            </a:r>
            <a:endParaRPr lang="en-US" sz="2600" dirty="0"/>
          </a:p>
        </p:txBody>
      </p:sp>
      <p:sp>
        <p:nvSpPr>
          <p:cNvPr id="12" name="Text 10"/>
          <p:cNvSpPr/>
          <p:nvPr/>
        </p:nvSpPr>
        <p:spPr>
          <a:xfrm>
            <a:off x="475488" y="4087368"/>
            <a:ext cx="2468880" cy="274320"/>
          </a:xfrm>
          <a:prstGeom prst="rect">
            <a:avLst/>
          </a:prstGeom>
          <a:noFill/>
          <a:ln/>
        </p:spPr>
        <p:txBody>
          <a:bodyPr wrap="square"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TOTAL DEATHS</a:t>
            </a:r>
            <a:endParaRPr lang="en-US" sz="950" dirty="0"/>
          </a:p>
        </p:txBody>
      </p:sp>
      <p:sp>
        <p:nvSpPr>
          <p:cNvPr id="13" name="Text 11"/>
          <p:cNvSpPr/>
          <p:nvPr/>
        </p:nvSpPr>
        <p:spPr>
          <a:xfrm>
            <a:off x="475488" y="4361688"/>
            <a:ext cx="246888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1990–2019 Cumulative</a:t>
            </a:r>
            <a:endParaRPr lang="en-US" sz="800" dirty="0"/>
          </a:p>
        </p:txBody>
      </p:sp>
      <p:sp>
        <p:nvSpPr>
          <p:cNvPr id="14" name="Shape 12"/>
          <p:cNvSpPr/>
          <p:nvPr/>
        </p:nvSpPr>
        <p:spPr>
          <a:xfrm>
            <a:off x="3200400" y="3401568"/>
            <a:ext cx="2651760" cy="1371600"/>
          </a:xfrm>
          <a:prstGeom prst="rect">
            <a:avLst/>
          </a:prstGeom>
          <a:solidFill>
            <a:srgbClr val="1F0000"/>
          </a:solidFill>
          <a:ln w="19050">
            <a:solidFill>
              <a:srgbClr val="8B0000"/>
            </a:solidFill>
            <a:prstDash val="solid"/>
          </a:ln>
        </p:spPr>
      </p:sp>
      <p:sp>
        <p:nvSpPr>
          <p:cNvPr id="15" name="Shape 13"/>
          <p:cNvSpPr/>
          <p:nvPr/>
        </p:nvSpPr>
        <p:spPr>
          <a:xfrm>
            <a:off x="3200400" y="3401568"/>
            <a:ext cx="54864" cy="1371600"/>
          </a:xfrm>
          <a:prstGeom prst="rect">
            <a:avLst/>
          </a:prstGeom>
          <a:solidFill>
            <a:srgbClr val="8B0000"/>
          </a:solidFill>
          <a:ln w="12700">
            <a:solidFill>
              <a:srgbClr val="8B0000"/>
            </a:solidFill>
            <a:prstDash val="solid"/>
          </a:ln>
        </p:spPr>
      </p:sp>
      <p:sp>
        <p:nvSpPr>
          <p:cNvPr id="16" name="Text 14"/>
          <p:cNvSpPr/>
          <p:nvPr/>
        </p:nvSpPr>
        <p:spPr>
          <a:xfrm>
            <a:off x="3310128" y="3493008"/>
            <a:ext cx="2468880" cy="594360"/>
          </a:xfrm>
          <a:prstGeom prst="rect">
            <a:avLst/>
          </a:prstGeom>
          <a:noFill/>
          <a:ln/>
        </p:spPr>
        <p:txBody>
          <a:bodyPr wrap="square" rtlCol="0" anchor="ctr"/>
          <a:lstStyle/>
          <a:p>
            <a:pPr indent="0" marL="0">
              <a:buNone/>
            </a:pPr>
            <a:r>
              <a:rPr lang="en-US" sz="2600" b="1" dirty="0">
                <a:solidFill>
                  <a:srgbClr val="E85A5A"/>
                </a:solidFill>
                <a:latin typeface="Trebuchet MS" pitchFamily="34" charset="0"/>
                <a:ea typeface="Trebuchet MS" pitchFamily="34" charset="-122"/>
                <a:cs typeface="Trebuchet MS" pitchFamily="34" charset="-120"/>
              </a:rPr>
              <a:t>48.9M</a:t>
            </a:r>
            <a:endParaRPr lang="en-US" sz="2600" dirty="0"/>
          </a:p>
        </p:txBody>
      </p:sp>
      <p:sp>
        <p:nvSpPr>
          <p:cNvPr id="17" name="Text 15"/>
          <p:cNvSpPr/>
          <p:nvPr/>
        </p:nvSpPr>
        <p:spPr>
          <a:xfrm>
            <a:off x="3310128" y="4087368"/>
            <a:ext cx="2468880" cy="274320"/>
          </a:xfrm>
          <a:prstGeom prst="rect">
            <a:avLst/>
          </a:prstGeom>
          <a:noFill/>
          <a:ln/>
        </p:spPr>
        <p:txBody>
          <a:bodyPr wrap="square"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YEARLY AVERAGE</a:t>
            </a:r>
            <a:endParaRPr lang="en-US" sz="950" dirty="0"/>
          </a:p>
        </p:txBody>
      </p:sp>
      <p:sp>
        <p:nvSpPr>
          <p:cNvPr id="18" name="Text 16"/>
          <p:cNvSpPr/>
          <p:nvPr/>
        </p:nvSpPr>
        <p:spPr>
          <a:xfrm>
            <a:off x="3310128" y="4361688"/>
            <a:ext cx="246888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Global annual deaths</a:t>
            </a:r>
            <a:endParaRPr lang="en-US" sz="800" dirty="0"/>
          </a:p>
        </p:txBody>
      </p:sp>
      <p:sp>
        <p:nvSpPr>
          <p:cNvPr id="19" name="Shape 17"/>
          <p:cNvSpPr/>
          <p:nvPr/>
        </p:nvSpPr>
        <p:spPr>
          <a:xfrm>
            <a:off x="6035040" y="3401568"/>
            <a:ext cx="2651760" cy="1371600"/>
          </a:xfrm>
          <a:prstGeom prst="rect">
            <a:avLst/>
          </a:prstGeom>
          <a:solidFill>
            <a:srgbClr val="1F0000"/>
          </a:solidFill>
          <a:ln w="19050">
            <a:solidFill>
              <a:srgbClr val="8B0000"/>
            </a:solidFill>
            <a:prstDash val="solid"/>
          </a:ln>
        </p:spPr>
      </p:sp>
      <p:sp>
        <p:nvSpPr>
          <p:cNvPr id="20" name="Shape 18"/>
          <p:cNvSpPr/>
          <p:nvPr/>
        </p:nvSpPr>
        <p:spPr>
          <a:xfrm>
            <a:off x="6035040" y="3401568"/>
            <a:ext cx="54864" cy="1371600"/>
          </a:xfrm>
          <a:prstGeom prst="rect">
            <a:avLst/>
          </a:prstGeom>
          <a:solidFill>
            <a:srgbClr val="8B0000"/>
          </a:solidFill>
          <a:ln w="12700">
            <a:solidFill>
              <a:srgbClr val="8B0000"/>
            </a:solidFill>
            <a:prstDash val="solid"/>
          </a:ln>
        </p:spPr>
      </p:sp>
      <p:sp>
        <p:nvSpPr>
          <p:cNvPr id="21" name="Text 19"/>
          <p:cNvSpPr/>
          <p:nvPr/>
        </p:nvSpPr>
        <p:spPr>
          <a:xfrm>
            <a:off x="6144768" y="3493008"/>
            <a:ext cx="2468880" cy="594360"/>
          </a:xfrm>
          <a:prstGeom prst="rect">
            <a:avLst/>
          </a:prstGeom>
          <a:noFill/>
          <a:ln/>
        </p:spPr>
        <p:txBody>
          <a:bodyPr wrap="square" rtlCol="0" anchor="ctr"/>
          <a:lstStyle/>
          <a:p>
            <a:pPr indent="0" marL="0">
              <a:buNone/>
            </a:pPr>
            <a:r>
              <a:rPr lang="en-US" sz="2600" b="1" dirty="0">
                <a:solidFill>
                  <a:srgbClr val="E85A5A"/>
                </a:solidFill>
                <a:latin typeface="Trebuchet MS" pitchFamily="34" charset="0"/>
                <a:ea typeface="Trebuchet MS" pitchFamily="34" charset="-122"/>
                <a:cs typeface="Trebuchet MS" pitchFamily="34" charset="-120"/>
              </a:rPr>
              <a:t>195+</a:t>
            </a:r>
            <a:endParaRPr lang="en-US" sz="2600" dirty="0"/>
          </a:p>
        </p:txBody>
      </p:sp>
      <p:sp>
        <p:nvSpPr>
          <p:cNvPr id="22" name="Text 20"/>
          <p:cNvSpPr/>
          <p:nvPr/>
        </p:nvSpPr>
        <p:spPr>
          <a:xfrm>
            <a:off x="6144768" y="4087368"/>
            <a:ext cx="2468880" cy="274320"/>
          </a:xfrm>
          <a:prstGeom prst="rect">
            <a:avLst/>
          </a:prstGeom>
          <a:noFill/>
          <a:ln/>
        </p:spPr>
        <p:txBody>
          <a:bodyPr wrap="square"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COUNTRIES</a:t>
            </a:r>
            <a:endParaRPr lang="en-US" sz="950" dirty="0"/>
          </a:p>
        </p:txBody>
      </p:sp>
      <p:sp>
        <p:nvSpPr>
          <p:cNvPr id="23" name="Text 21"/>
          <p:cNvSpPr/>
          <p:nvPr/>
        </p:nvSpPr>
        <p:spPr>
          <a:xfrm>
            <a:off x="6144768" y="4361688"/>
            <a:ext cx="246888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Full geographic coverage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1990–2019</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Introduction &amp; Project Overview</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34440"/>
            <a:ext cx="2560320" cy="3474720"/>
          </a:xfrm>
          <a:prstGeom prst="rect">
            <a:avLst/>
          </a:prstGeom>
          <a:solidFill>
            <a:srgbClr val="FFDDE0"/>
          </a:solidFill>
          <a:ln w="12700">
            <a:solidFill>
              <a:srgbClr val="FFDDE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234440"/>
            <a:ext cx="64008" cy="3474720"/>
          </a:xfrm>
          <a:prstGeom prst="rect">
            <a:avLst/>
          </a:prstGeom>
          <a:solidFill>
            <a:srgbClr val="8B0000"/>
          </a:solidFill>
          <a:ln w="12700">
            <a:solidFill>
              <a:srgbClr val="8B0000"/>
            </a:solidFill>
            <a:prstDash val="solid"/>
          </a:ln>
        </p:spPr>
      </p:sp>
      <p:sp>
        <p:nvSpPr>
          <p:cNvPr id="7" name="Text 5"/>
          <p:cNvSpPr/>
          <p:nvPr/>
        </p:nvSpPr>
        <p:spPr>
          <a:xfrm>
            <a:off x="594360" y="1371600"/>
            <a:ext cx="2286000" cy="292608"/>
          </a:xfrm>
          <a:prstGeom prst="rect">
            <a:avLst/>
          </a:prstGeom>
          <a:noFill/>
          <a:ln/>
        </p:spPr>
        <p:txBody>
          <a:bodyPr wrap="square" rtlCol="0" anchor="ctr"/>
          <a:lstStyle/>
          <a:p>
            <a:pPr indent="0" marL="0">
              <a:buNone/>
            </a:pPr>
            <a:r>
              <a:rPr lang="en-US" sz="1000" b="1" spc="200" kern="0" dirty="0">
                <a:solidFill>
                  <a:srgbClr val="8B0000"/>
                </a:solidFill>
                <a:latin typeface="Calibri" pitchFamily="34" charset="0"/>
                <a:ea typeface="Calibri" pitchFamily="34" charset="-122"/>
                <a:cs typeface="Calibri" pitchFamily="34" charset="-120"/>
              </a:rPr>
              <a:t>OBJECTIVES</a:t>
            </a:r>
            <a:endParaRPr lang="en-US" sz="1000" dirty="0"/>
          </a:p>
        </p:txBody>
      </p:sp>
      <p:sp>
        <p:nvSpPr>
          <p:cNvPr id="8" name="Text 6"/>
          <p:cNvSpPr/>
          <p:nvPr/>
        </p:nvSpPr>
        <p:spPr>
          <a:xfrm>
            <a:off x="594360" y="1810512"/>
            <a:ext cx="2331720" cy="594360"/>
          </a:xfrm>
          <a:prstGeom prst="rect">
            <a:avLst/>
          </a:prstGeom>
          <a:noFill/>
          <a:ln/>
        </p:spPr>
        <p:txBody>
          <a:bodyPr wrap="square" rtlCol="0" anchor="ctr"/>
          <a:lstStyle/>
          <a:p>
            <a:pPr indent="0" marL="0">
              <a:buNone/>
            </a:pPr>
            <a:r>
              <a:rPr lang="en-US" sz="1050" b="1" dirty="0">
                <a:solidFill>
                  <a:srgbClr val="8B0000"/>
                </a:solidFill>
                <a:latin typeface="Calibri" pitchFamily="34" charset="0"/>
                <a:ea typeface="Calibri" pitchFamily="34" charset="-122"/>
                <a:cs typeface="Calibri" pitchFamily="34" charset="-120"/>
              </a:rPr>
              <a:t>1.  </a:t>
            </a:r>
            <a:pPr indent="0" marL="0">
              <a:buNone/>
            </a:pPr>
            <a:r>
              <a:rPr lang="en-US" sz="1050" dirty="0">
                <a:solidFill>
                  <a:srgbClr val="222222"/>
                </a:solidFill>
                <a:latin typeface="Calibri" pitchFamily="34" charset="0"/>
                <a:ea typeface="Calibri" pitchFamily="34" charset="-122"/>
                <a:cs typeface="Calibri" pitchFamily="34" charset="-120"/>
              </a:rPr>
              <a:t>Analyze 30-year global mortality trends (1990–2019)</a:t>
            </a:r>
            <a:endParaRPr lang="en-US" sz="1050" dirty="0"/>
          </a:p>
        </p:txBody>
      </p:sp>
      <p:sp>
        <p:nvSpPr>
          <p:cNvPr id="9" name="Text 7"/>
          <p:cNvSpPr/>
          <p:nvPr/>
        </p:nvSpPr>
        <p:spPr>
          <a:xfrm>
            <a:off x="594360" y="2450592"/>
            <a:ext cx="2331720" cy="594360"/>
          </a:xfrm>
          <a:prstGeom prst="rect">
            <a:avLst/>
          </a:prstGeom>
          <a:noFill/>
          <a:ln/>
        </p:spPr>
        <p:txBody>
          <a:bodyPr wrap="square" rtlCol="0" anchor="ctr"/>
          <a:lstStyle/>
          <a:p>
            <a:pPr indent="0" marL="0">
              <a:buNone/>
            </a:pPr>
            <a:r>
              <a:rPr lang="en-US" sz="1050" b="1" dirty="0">
                <a:solidFill>
                  <a:srgbClr val="8B0000"/>
                </a:solidFill>
                <a:latin typeface="Calibri" pitchFamily="34" charset="0"/>
                <a:ea typeface="Calibri" pitchFamily="34" charset="-122"/>
                <a:cs typeface="Calibri" pitchFamily="34" charset="-120"/>
              </a:rPr>
              <a:t>2.  </a:t>
            </a:r>
            <a:pPr indent="0" marL="0">
              <a:buNone/>
            </a:pPr>
            <a:r>
              <a:rPr lang="en-US" sz="1050" dirty="0">
                <a:solidFill>
                  <a:srgbClr val="222222"/>
                </a:solidFill>
                <a:latin typeface="Calibri" pitchFamily="34" charset="0"/>
                <a:ea typeface="Calibri" pitchFamily="34" charset="-122"/>
                <a:cs typeface="Calibri" pitchFamily="34" charset="-120"/>
              </a:rPr>
              <a:t>Map geographic burden: countries &amp; continents</a:t>
            </a:r>
            <a:endParaRPr lang="en-US" sz="1050" dirty="0"/>
          </a:p>
        </p:txBody>
      </p:sp>
      <p:sp>
        <p:nvSpPr>
          <p:cNvPr id="10" name="Text 8"/>
          <p:cNvSpPr/>
          <p:nvPr/>
        </p:nvSpPr>
        <p:spPr>
          <a:xfrm>
            <a:off x="594360" y="3090672"/>
            <a:ext cx="2331720" cy="594360"/>
          </a:xfrm>
          <a:prstGeom prst="rect">
            <a:avLst/>
          </a:prstGeom>
          <a:noFill/>
          <a:ln/>
        </p:spPr>
        <p:txBody>
          <a:bodyPr wrap="square" rtlCol="0" anchor="ctr"/>
          <a:lstStyle/>
          <a:p>
            <a:pPr indent="0" marL="0">
              <a:buNone/>
            </a:pPr>
            <a:r>
              <a:rPr lang="en-US" sz="1050" b="1" dirty="0">
                <a:solidFill>
                  <a:srgbClr val="8B0000"/>
                </a:solidFill>
                <a:latin typeface="Calibri" pitchFamily="34" charset="0"/>
                <a:ea typeface="Calibri" pitchFamily="34" charset="-122"/>
                <a:cs typeface="Calibri" pitchFamily="34" charset="-120"/>
              </a:rPr>
              <a:t>3.  </a:t>
            </a:r>
            <a:pPr indent="0" marL="0">
              <a:buNone/>
            </a:pPr>
            <a:r>
              <a:rPr lang="en-US" sz="1050" dirty="0">
                <a:solidFill>
                  <a:srgbClr val="222222"/>
                </a:solidFill>
                <a:latin typeface="Calibri" pitchFamily="34" charset="0"/>
                <a:ea typeface="Calibri" pitchFamily="34" charset="-122"/>
                <a:cs typeface="Calibri" pitchFamily="34" charset="-120"/>
              </a:rPr>
              <a:t>Identify leading causes of death driving majority of fatalities</a:t>
            </a:r>
            <a:endParaRPr lang="en-US" sz="1050" dirty="0"/>
          </a:p>
        </p:txBody>
      </p:sp>
      <p:sp>
        <p:nvSpPr>
          <p:cNvPr id="11" name="Text 9"/>
          <p:cNvSpPr/>
          <p:nvPr/>
        </p:nvSpPr>
        <p:spPr>
          <a:xfrm>
            <a:off x="594360" y="3730752"/>
            <a:ext cx="2331720" cy="594360"/>
          </a:xfrm>
          <a:prstGeom prst="rect">
            <a:avLst/>
          </a:prstGeom>
          <a:noFill/>
          <a:ln/>
        </p:spPr>
        <p:txBody>
          <a:bodyPr wrap="square" rtlCol="0" anchor="ctr"/>
          <a:lstStyle/>
          <a:p>
            <a:pPr indent="0" marL="0">
              <a:buNone/>
            </a:pPr>
            <a:r>
              <a:rPr lang="en-US" sz="1050" b="1" dirty="0">
                <a:solidFill>
                  <a:srgbClr val="8B0000"/>
                </a:solidFill>
                <a:latin typeface="Calibri" pitchFamily="34" charset="0"/>
                <a:ea typeface="Calibri" pitchFamily="34" charset="-122"/>
                <a:cs typeface="Calibri" pitchFamily="34" charset="-120"/>
              </a:rPr>
              <a:t>4.  </a:t>
            </a:r>
            <a:pPr indent="0" marL="0">
              <a:buNone/>
            </a:pPr>
            <a:r>
              <a:rPr lang="en-US" sz="1050" dirty="0">
                <a:solidFill>
                  <a:srgbClr val="222222"/>
                </a:solidFill>
                <a:latin typeface="Calibri" pitchFamily="34" charset="0"/>
                <a:ea typeface="Calibri" pitchFamily="34" charset="-122"/>
                <a:cs typeface="Calibri" pitchFamily="34" charset="-120"/>
              </a:rPr>
              <a:t>Deliver actionable policy recommendations</a:t>
            </a:r>
            <a:endParaRPr lang="en-US" sz="1050" dirty="0"/>
          </a:p>
        </p:txBody>
      </p:sp>
      <p:sp>
        <p:nvSpPr>
          <p:cNvPr id="12" name="Text 10"/>
          <p:cNvSpPr/>
          <p:nvPr/>
        </p:nvSpPr>
        <p:spPr>
          <a:xfrm>
            <a:off x="3291840" y="1234440"/>
            <a:ext cx="5486400" cy="320040"/>
          </a:xfrm>
          <a:prstGeom prst="rect">
            <a:avLst/>
          </a:prstGeom>
          <a:noFill/>
          <a:ln/>
        </p:spPr>
        <p:txBody>
          <a:bodyPr wrap="square" rtlCol="0" anchor="ctr"/>
          <a:lstStyle/>
          <a:p>
            <a:pPr indent="0" marL="0">
              <a:buNone/>
            </a:pPr>
            <a:r>
              <a:rPr lang="en-US" sz="1600" b="1" dirty="0">
                <a:solidFill>
                  <a:srgbClr val="8B0000"/>
                </a:solidFill>
                <a:latin typeface="Trebuchet MS" pitchFamily="34" charset="0"/>
                <a:ea typeface="Trebuchet MS" pitchFamily="34" charset="-122"/>
                <a:cs typeface="Trebuchet MS" pitchFamily="34" charset="-120"/>
              </a:rPr>
              <a:t>Context</a:t>
            </a:r>
            <a:endParaRPr lang="en-US" sz="1600" dirty="0"/>
          </a:p>
        </p:txBody>
      </p:sp>
      <p:sp>
        <p:nvSpPr>
          <p:cNvPr id="13" name="Text 11"/>
          <p:cNvSpPr/>
          <p:nvPr/>
        </p:nvSpPr>
        <p:spPr>
          <a:xfrm>
            <a:off x="3291840" y="1600200"/>
            <a:ext cx="5486400" cy="1188720"/>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Mortality data is the compass of public health. Understanding who dies, where, and from what, allows governments and international organizations to allocate resources, design prevention programs, and measure the effectiveness of health interventions. This project consolidates three decades of global death records into an interactive Power BI dashboard—enabling drill-down from world level to individual country causes, with year-by-year trend visibility.</a:t>
            </a:r>
            <a:endParaRPr lang="en-US" sz="1150" dirty="0"/>
          </a:p>
        </p:txBody>
      </p:sp>
      <p:sp>
        <p:nvSpPr>
          <p:cNvPr id="14" name="Shape 12"/>
          <p:cNvSpPr/>
          <p:nvPr/>
        </p:nvSpPr>
        <p:spPr>
          <a:xfrm>
            <a:off x="3291840" y="2971800"/>
            <a:ext cx="1325880" cy="1600200"/>
          </a:xfrm>
          <a:prstGeom prst="rect">
            <a:avLst/>
          </a:prstGeom>
          <a:solidFill>
            <a:srgbClr val="FFFFFF"/>
          </a:solidFill>
          <a:ln w="19050">
            <a:solidFill>
              <a:srgbClr val="E85A5A"/>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3291840" y="3035808"/>
            <a:ext cx="1325880" cy="36576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3291840" y="3401568"/>
            <a:ext cx="1325880" cy="256032"/>
          </a:xfrm>
          <a:prstGeom prst="rect">
            <a:avLst/>
          </a:prstGeom>
          <a:noFill/>
          <a:ln/>
        </p:spPr>
        <p:txBody>
          <a:bodyPr wrap="square" rtlCol="0" anchor="ctr"/>
          <a:lstStyle/>
          <a:p>
            <a:pPr algn="ctr" indent="0" marL="0">
              <a:buNone/>
            </a:pPr>
            <a:r>
              <a:rPr lang="en-US" sz="850" b="1" spc="150" kern="0" dirty="0">
                <a:solidFill>
                  <a:srgbClr val="8B0000"/>
                </a:solidFill>
                <a:latin typeface="Calibri" pitchFamily="34" charset="0"/>
                <a:ea typeface="Calibri" pitchFamily="34" charset="-122"/>
                <a:cs typeface="Calibri" pitchFamily="34" charset="-120"/>
              </a:rPr>
              <a:t>Timeframe</a:t>
            </a:r>
            <a:endParaRPr lang="en-US" sz="850" dirty="0"/>
          </a:p>
        </p:txBody>
      </p:sp>
      <p:sp>
        <p:nvSpPr>
          <p:cNvPr id="17" name="Text 15"/>
          <p:cNvSpPr/>
          <p:nvPr/>
        </p:nvSpPr>
        <p:spPr>
          <a:xfrm>
            <a:off x="3291840" y="3657600"/>
            <a:ext cx="1325880" cy="658368"/>
          </a:xfrm>
          <a:prstGeom prst="rect">
            <a:avLst/>
          </a:prstGeom>
          <a:noFill/>
          <a:ln/>
        </p:spPr>
        <p:txBody>
          <a:bodyPr wrap="square"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1990–2019</a:t>
            </a:r>
            <a:endParaRPr lang="en-US" sz="1000" dirty="0"/>
          </a:p>
          <a:p>
            <a:pPr algn="ctr" indent="0" marL="0">
              <a:buNone/>
            </a:pPr>
            <a:r>
              <a:rPr lang="en-US" sz="1000" b="1" dirty="0">
                <a:solidFill>
                  <a:srgbClr val="222222"/>
                </a:solidFill>
                <a:latin typeface="Calibri" pitchFamily="34" charset="0"/>
                <a:ea typeface="Calibri" pitchFamily="34" charset="-122"/>
                <a:cs typeface="Calibri" pitchFamily="34" charset="-120"/>
              </a:rPr>
              <a:t>30 Years</a:t>
            </a:r>
            <a:endParaRPr lang="en-US" sz="1000" dirty="0"/>
          </a:p>
        </p:txBody>
      </p:sp>
      <p:sp>
        <p:nvSpPr>
          <p:cNvPr id="18" name="Shape 16"/>
          <p:cNvSpPr/>
          <p:nvPr/>
        </p:nvSpPr>
        <p:spPr>
          <a:xfrm>
            <a:off x="4736592" y="2971800"/>
            <a:ext cx="1325880" cy="1600200"/>
          </a:xfrm>
          <a:prstGeom prst="rect">
            <a:avLst/>
          </a:prstGeom>
          <a:solidFill>
            <a:srgbClr val="FFFFFF"/>
          </a:solidFill>
          <a:ln w="19050">
            <a:solidFill>
              <a:srgbClr val="E85A5A"/>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736592" y="3035808"/>
            <a:ext cx="1325880" cy="36576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4736592" y="3401568"/>
            <a:ext cx="1325880" cy="256032"/>
          </a:xfrm>
          <a:prstGeom prst="rect">
            <a:avLst/>
          </a:prstGeom>
          <a:noFill/>
          <a:ln/>
        </p:spPr>
        <p:txBody>
          <a:bodyPr wrap="square" rtlCol="0" anchor="ctr"/>
          <a:lstStyle/>
          <a:p>
            <a:pPr algn="ctr" indent="0" marL="0">
              <a:buNone/>
            </a:pPr>
            <a:r>
              <a:rPr lang="en-US" sz="850" b="1" spc="150" kern="0" dirty="0">
                <a:solidFill>
                  <a:srgbClr val="8B0000"/>
                </a:solidFill>
                <a:latin typeface="Calibri" pitchFamily="34" charset="0"/>
                <a:ea typeface="Calibri" pitchFamily="34" charset="-122"/>
                <a:cs typeface="Calibri" pitchFamily="34" charset="-120"/>
              </a:rPr>
              <a:t>Geography</a:t>
            </a:r>
            <a:endParaRPr lang="en-US" sz="850" dirty="0"/>
          </a:p>
        </p:txBody>
      </p:sp>
      <p:sp>
        <p:nvSpPr>
          <p:cNvPr id="21" name="Text 19"/>
          <p:cNvSpPr/>
          <p:nvPr/>
        </p:nvSpPr>
        <p:spPr>
          <a:xfrm>
            <a:off x="4736592" y="3657600"/>
            <a:ext cx="1325880" cy="658368"/>
          </a:xfrm>
          <a:prstGeom prst="rect">
            <a:avLst/>
          </a:prstGeom>
          <a:noFill/>
          <a:ln/>
        </p:spPr>
        <p:txBody>
          <a:bodyPr wrap="square"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195+ Countries</a:t>
            </a:r>
            <a:endParaRPr lang="en-US" sz="1000" dirty="0"/>
          </a:p>
          <a:p>
            <a:pPr algn="ctr" indent="0" marL="0">
              <a:buNone/>
            </a:pPr>
            <a:r>
              <a:rPr lang="en-US" sz="1000" b="1" dirty="0">
                <a:solidFill>
                  <a:srgbClr val="222222"/>
                </a:solidFill>
                <a:latin typeface="Calibri" pitchFamily="34" charset="0"/>
                <a:ea typeface="Calibri" pitchFamily="34" charset="-122"/>
                <a:cs typeface="Calibri" pitchFamily="34" charset="-120"/>
              </a:rPr>
              <a:t>6 Continents</a:t>
            </a:r>
            <a:endParaRPr lang="en-US" sz="1000" dirty="0"/>
          </a:p>
        </p:txBody>
      </p:sp>
      <p:sp>
        <p:nvSpPr>
          <p:cNvPr id="22" name="Shape 20"/>
          <p:cNvSpPr/>
          <p:nvPr/>
        </p:nvSpPr>
        <p:spPr>
          <a:xfrm>
            <a:off x="6181344" y="2971800"/>
            <a:ext cx="1325880" cy="1600200"/>
          </a:xfrm>
          <a:prstGeom prst="rect">
            <a:avLst/>
          </a:prstGeom>
          <a:solidFill>
            <a:srgbClr val="FFFFFF"/>
          </a:solidFill>
          <a:ln w="19050">
            <a:solidFill>
              <a:srgbClr val="E85A5A"/>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6181344" y="3035808"/>
            <a:ext cx="1325880" cy="36576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6181344" y="3401568"/>
            <a:ext cx="1325880" cy="256032"/>
          </a:xfrm>
          <a:prstGeom prst="rect">
            <a:avLst/>
          </a:prstGeom>
          <a:noFill/>
          <a:ln/>
        </p:spPr>
        <p:txBody>
          <a:bodyPr wrap="square" rtlCol="0" anchor="ctr"/>
          <a:lstStyle/>
          <a:p>
            <a:pPr algn="ctr" indent="0" marL="0">
              <a:buNone/>
            </a:pPr>
            <a:r>
              <a:rPr lang="en-US" sz="850" b="1" spc="150" kern="0" dirty="0">
                <a:solidFill>
                  <a:srgbClr val="8B0000"/>
                </a:solidFill>
                <a:latin typeface="Calibri" pitchFamily="34" charset="0"/>
                <a:ea typeface="Calibri" pitchFamily="34" charset="-122"/>
                <a:cs typeface="Calibri" pitchFamily="34" charset="-120"/>
              </a:rPr>
              <a:t>Metrics</a:t>
            </a:r>
            <a:endParaRPr lang="en-US" sz="850" dirty="0"/>
          </a:p>
        </p:txBody>
      </p:sp>
      <p:sp>
        <p:nvSpPr>
          <p:cNvPr id="25" name="Text 23"/>
          <p:cNvSpPr/>
          <p:nvPr/>
        </p:nvSpPr>
        <p:spPr>
          <a:xfrm>
            <a:off x="6181344" y="3657600"/>
            <a:ext cx="1325880" cy="658368"/>
          </a:xfrm>
          <a:prstGeom prst="rect">
            <a:avLst/>
          </a:prstGeom>
          <a:noFill/>
          <a:ln/>
        </p:spPr>
        <p:txBody>
          <a:bodyPr wrap="square"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Deaths, % World</a:t>
            </a:r>
            <a:endParaRPr lang="en-US" sz="1000" dirty="0"/>
          </a:p>
          <a:p>
            <a:pPr algn="ctr" indent="0" marL="0">
              <a:buNone/>
            </a:pPr>
            <a:r>
              <a:rPr lang="en-US" sz="1000" b="1" dirty="0">
                <a:solidFill>
                  <a:srgbClr val="222222"/>
                </a:solidFill>
                <a:latin typeface="Calibri" pitchFamily="34" charset="0"/>
                <a:ea typeface="Calibri" pitchFamily="34" charset="-122"/>
                <a:cs typeface="Calibri" pitchFamily="34" charset="-120"/>
              </a:rPr>
              <a:t>Yearly Averages</a:t>
            </a:r>
            <a:endParaRPr lang="en-US" sz="1000" dirty="0"/>
          </a:p>
        </p:txBody>
      </p:sp>
      <p:sp>
        <p:nvSpPr>
          <p:cNvPr id="26" name="Shape 24"/>
          <p:cNvSpPr/>
          <p:nvPr/>
        </p:nvSpPr>
        <p:spPr>
          <a:xfrm>
            <a:off x="7626096" y="2971800"/>
            <a:ext cx="1325880" cy="1600200"/>
          </a:xfrm>
          <a:prstGeom prst="rect">
            <a:avLst/>
          </a:prstGeom>
          <a:solidFill>
            <a:srgbClr val="FFFFFF"/>
          </a:solidFill>
          <a:ln w="19050">
            <a:solidFill>
              <a:srgbClr val="E85A5A"/>
            </a:solidFill>
            <a:prstDash val="solid"/>
          </a:ln>
          <a:effectLst>
            <a:outerShdw sx="100000" sy="100000" kx="0" ky="0" algn="bl" rotWithShape="0" blurRad="101600" dist="38100" dir="8100000">
              <a:srgbClr val="000000">
                <a:alpha val="12000"/>
              </a:srgbClr>
            </a:outerShdw>
          </a:effectLst>
        </p:spPr>
      </p:sp>
      <p:sp>
        <p:nvSpPr>
          <p:cNvPr id="27" name="Text 25"/>
          <p:cNvSpPr/>
          <p:nvPr/>
        </p:nvSpPr>
        <p:spPr>
          <a:xfrm>
            <a:off x="7626096" y="3035808"/>
            <a:ext cx="1325880" cy="36576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7626096" y="3401568"/>
            <a:ext cx="1325880" cy="256032"/>
          </a:xfrm>
          <a:prstGeom prst="rect">
            <a:avLst/>
          </a:prstGeom>
          <a:noFill/>
          <a:ln/>
        </p:spPr>
        <p:txBody>
          <a:bodyPr wrap="square" rtlCol="0" anchor="ctr"/>
          <a:lstStyle/>
          <a:p>
            <a:pPr algn="ctr" indent="0" marL="0">
              <a:buNone/>
            </a:pPr>
            <a:r>
              <a:rPr lang="en-US" sz="850" b="1" spc="150" kern="0" dirty="0">
                <a:solidFill>
                  <a:srgbClr val="8B0000"/>
                </a:solidFill>
                <a:latin typeface="Calibri" pitchFamily="34" charset="0"/>
                <a:ea typeface="Calibri" pitchFamily="34" charset="-122"/>
                <a:cs typeface="Calibri" pitchFamily="34" charset="-120"/>
              </a:rPr>
              <a:t>Granularity</a:t>
            </a:r>
            <a:endParaRPr lang="en-US" sz="850" dirty="0"/>
          </a:p>
        </p:txBody>
      </p:sp>
      <p:sp>
        <p:nvSpPr>
          <p:cNvPr id="29" name="Text 27"/>
          <p:cNvSpPr/>
          <p:nvPr/>
        </p:nvSpPr>
        <p:spPr>
          <a:xfrm>
            <a:off x="7626096" y="3657600"/>
            <a:ext cx="1325880" cy="658368"/>
          </a:xfrm>
          <a:prstGeom prst="rect">
            <a:avLst/>
          </a:prstGeom>
          <a:noFill/>
          <a:ln/>
        </p:spPr>
        <p:txBody>
          <a:bodyPr wrap="square"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Country / Cause</a:t>
            </a:r>
            <a:endParaRPr lang="en-US" sz="1000" dirty="0"/>
          </a:p>
          <a:p>
            <a:pPr algn="ctr" indent="0" marL="0">
              <a:buNone/>
            </a:pPr>
            <a:r>
              <a:rPr lang="en-US" sz="1000" b="1" dirty="0">
                <a:solidFill>
                  <a:srgbClr val="222222"/>
                </a:solidFill>
                <a:latin typeface="Calibri" pitchFamily="34" charset="0"/>
                <a:ea typeface="Calibri" pitchFamily="34" charset="-122"/>
                <a:cs typeface="Calibri" pitchFamily="34" charset="-120"/>
              </a:rPr>
              <a:t>Annual Level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RATIONALE</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Why This Project Matters</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34440"/>
            <a:ext cx="2651760" cy="3474720"/>
          </a:xfrm>
          <a:prstGeom prst="rect">
            <a:avLst/>
          </a:prstGeom>
          <a:solidFill>
            <a:srgbClr val="FFF5F5"/>
          </a:solidFill>
          <a:ln w="12700">
            <a:solidFill>
              <a:srgbClr val="E85A5A"/>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594360" y="1371600"/>
            <a:ext cx="2423160" cy="256032"/>
          </a:xfrm>
          <a:prstGeom prst="rect">
            <a:avLst/>
          </a:prstGeom>
          <a:noFill/>
          <a:ln/>
        </p:spPr>
        <p:txBody>
          <a:bodyPr wrap="square" rtlCol="0" anchor="ctr"/>
          <a:lstStyle/>
          <a:p>
            <a:pPr indent="0" marL="0">
              <a:buNone/>
            </a:pPr>
            <a:r>
              <a:rPr lang="en-US" sz="900" b="1" spc="150" kern="0" dirty="0">
                <a:solidFill>
                  <a:srgbClr val="8B0000"/>
                </a:solidFill>
                <a:latin typeface="Calibri" pitchFamily="34" charset="0"/>
                <a:ea typeface="Calibri" pitchFamily="34" charset="-122"/>
                <a:cs typeface="Calibri" pitchFamily="34" charset="-120"/>
              </a:rPr>
              <a:t>BUSINESS RATIONALE</a:t>
            </a:r>
            <a:endParaRPr lang="en-US" sz="900" dirty="0"/>
          </a:p>
        </p:txBody>
      </p:sp>
      <p:sp>
        <p:nvSpPr>
          <p:cNvPr id="7" name="Shape 5"/>
          <p:cNvSpPr/>
          <p:nvPr/>
        </p:nvSpPr>
        <p:spPr>
          <a:xfrm>
            <a:off x="594360" y="1801368"/>
            <a:ext cx="201168" cy="201168"/>
          </a:xfrm>
          <a:prstGeom prst="ellipse">
            <a:avLst/>
          </a:prstGeom>
          <a:solidFill>
            <a:srgbClr val="8B0000"/>
          </a:solidFill>
          <a:ln w="12700">
            <a:solidFill>
              <a:srgbClr val="8B0000"/>
            </a:solidFill>
            <a:prstDash val="solid"/>
          </a:ln>
        </p:spPr>
      </p:sp>
      <p:sp>
        <p:nvSpPr>
          <p:cNvPr id="8" name="Text 6"/>
          <p:cNvSpPr/>
          <p:nvPr/>
        </p:nvSpPr>
        <p:spPr>
          <a:xfrm>
            <a:off x="868680" y="1755648"/>
            <a:ext cx="2103120" cy="59436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Health systems waste billions targeting the wrong diseases</a:t>
            </a:r>
            <a:endParaRPr lang="en-US" sz="1000" dirty="0"/>
          </a:p>
        </p:txBody>
      </p:sp>
      <p:sp>
        <p:nvSpPr>
          <p:cNvPr id="9" name="Shape 7"/>
          <p:cNvSpPr/>
          <p:nvPr/>
        </p:nvSpPr>
        <p:spPr>
          <a:xfrm>
            <a:off x="594360" y="2532888"/>
            <a:ext cx="201168" cy="201168"/>
          </a:xfrm>
          <a:prstGeom prst="ellipse">
            <a:avLst/>
          </a:prstGeom>
          <a:solidFill>
            <a:srgbClr val="8B0000"/>
          </a:solidFill>
          <a:ln w="12700">
            <a:solidFill>
              <a:srgbClr val="8B0000"/>
            </a:solidFill>
            <a:prstDash val="solid"/>
          </a:ln>
        </p:spPr>
      </p:sp>
      <p:sp>
        <p:nvSpPr>
          <p:cNvPr id="10" name="Text 8"/>
          <p:cNvSpPr/>
          <p:nvPr/>
        </p:nvSpPr>
        <p:spPr>
          <a:xfrm>
            <a:off x="868680" y="2487168"/>
            <a:ext cx="2103120" cy="59436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Without data, policy makers act on intuition, not evidence</a:t>
            </a:r>
            <a:endParaRPr lang="en-US" sz="1000" dirty="0"/>
          </a:p>
        </p:txBody>
      </p:sp>
      <p:sp>
        <p:nvSpPr>
          <p:cNvPr id="11" name="Shape 9"/>
          <p:cNvSpPr/>
          <p:nvPr/>
        </p:nvSpPr>
        <p:spPr>
          <a:xfrm>
            <a:off x="594360" y="3264408"/>
            <a:ext cx="201168" cy="201168"/>
          </a:xfrm>
          <a:prstGeom prst="ellipse">
            <a:avLst/>
          </a:prstGeom>
          <a:solidFill>
            <a:srgbClr val="8B0000"/>
          </a:solidFill>
          <a:ln w="12700">
            <a:solidFill>
              <a:srgbClr val="8B0000"/>
            </a:solidFill>
            <a:prstDash val="solid"/>
          </a:ln>
        </p:spPr>
      </p:sp>
      <p:sp>
        <p:nvSpPr>
          <p:cNvPr id="12" name="Text 10"/>
          <p:cNvSpPr/>
          <p:nvPr/>
        </p:nvSpPr>
        <p:spPr>
          <a:xfrm>
            <a:off x="868680" y="3218688"/>
            <a:ext cx="2103120" cy="59436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Geographic disparities mask where interventions are most needed</a:t>
            </a:r>
            <a:endParaRPr lang="en-US" sz="1000" dirty="0"/>
          </a:p>
        </p:txBody>
      </p:sp>
      <p:sp>
        <p:nvSpPr>
          <p:cNvPr id="13" name="Shape 11"/>
          <p:cNvSpPr/>
          <p:nvPr/>
        </p:nvSpPr>
        <p:spPr>
          <a:xfrm>
            <a:off x="594360" y="3995928"/>
            <a:ext cx="201168" cy="201168"/>
          </a:xfrm>
          <a:prstGeom prst="ellipse">
            <a:avLst/>
          </a:prstGeom>
          <a:solidFill>
            <a:srgbClr val="8B0000"/>
          </a:solidFill>
          <a:ln w="12700">
            <a:solidFill>
              <a:srgbClr val="8B0000"/>
            </a:solidFill>
            <a:prstDash val="solid"/>
          </a:ln>
        </p:spPr>
      </p:sp>
      <p:sp>
        <p:nvSpPr>
          <p:cNvPr id="14" name="Text 12"/>
          <p:cNvSpPr/>
          <p:nvPr/>
        </p:nvSpPr>
        <p:spPr>
          <a:xfrm>
            <a:off x="868680" y="3950208"/>
            <a:ext cx="2103120" cy="59436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Cause-of-death trends predict future burden on health infrastructure</a:t>
            </a:r>
            <a:endParaRPr lang="en-US" sz="1000" dirty="0"/>
          </a:p>
        </p:txBody>
      </p:sp>
      <p:sp>
        <p:nvSpPr>
          <p:cNvPr id="15" name="Text 13"/>
          <p:cNvSpPr/>
          <p:nvPr/>
        </p:nvSpPr>
        <p:spPr>
          <a:xfrm>
            <a:off x="3337560" y="1234440"/>
            <a:ext cx="5486400" cy="274320"/>
          </a:xfrm>
          <a:prstGeom prst="rect">
            <a:avLst/>
          </a:prstGeom>
          <a:noFill/>
          <a:ln/>
        </p:spPr>
        <p:txBody>
          <a:bodyPr wrap="square" rtlCol="0" anchor="ctr"/>
          <a:lstStyle/>
          <a:p>
            <a:pPr indent="0" marL="0">
              <a:buNone/>
            </a:pPr>
            <a:r>
              <a:rPr lang="en-US" sz="950" b="1" spc="150" kern="0" dirty="0">
                <a:solidFill>
                  <a:srgbClr val="8B0000"/>
                </a:solidFill>
                <a:latin typeface="Calibri" pitchFamily="34" charset="0"/>
                <a:ea typeface="Calibri" pitchFamily="34" charset="-122"/>
                <a:cs typeface="Calibri" pitchFamily="34" charset="-120"/>
              </a:rPr>
              <a:t>MORTALITY BURDEN BY CONTINENT  (1990–2019)</a:t>
            </a:r>
            <a:endParaRPr lang="en-US" sz="950" dirty="0"/>
          </a:p>
        </p:txBody>
      </p:sp>
      <p:sp>
        <p:nvSpPr>
          <p:cNvPr id="16" name="Shape 14"/>
          <p:cNvSpPr/>
          <p:nvPr/>
        </p:nvSpPr>
        <p:spPr>
          <a:xfrm>
            <a:off x="3337560" y="1600200"/>
            <a:ext cx="1691640" cy="1261872"/>
          </a:xfrm>
          <a:prstGeom prst="rect">
            <a:avLst/>
          </a:prstGeom>
          <a:solidFill>
            <a:srgbClr val="8B0000"/>
          </a:solidFill>
          <a:ln w="12700">
            <a:solidFill>
              <a:srgbClr val="8B0000"/>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3429000" y="1709928"/>
            <a:ext cx="1463040" cy="54864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820M</a:t>
            </a:r>
            <a:endParaRPr lang="en-US" sz="2600" dirty="0"/>
          </a:p>
        </p:txBody>
      </p:sp>
      <p:sp>
        <p:nvSpPr>
          <p:cNvPr id="18" name="Text 16"/>
          <p:cNvSpPr/>
          <p:nvPr/>
        </p:nvSpPr>
        <p:spPr>
          <a:xfrm>
            <a:off x="3429000" y="2240280"/>
            <a:ext cx="1463040" cy="256032"/>
          </a:xfrm>
          <a:prstGeom prst="rect">
            <a:avLst/>
          </a:prstGeom>
          <a:noFill/>
          <a:ln/>
        </p:spPr>
        <p:txBody>
          <a:bodyPr wrap="square" rtlCol="0" anchor="ctr"/>
          <a:lstStyle/>
          <a:p>
            <a:pPr indent="0" marL="0">
              <a:buNone/>
            </a:pPr>
            <a:r>
              <a:rPr lang="en-US" sz="900" b="1" spc="150" kern="0" dirty="0">
                <a:solidFill>
                  <a:srgbClr val="FFDDE0"/>
                </a:solidFill>
                <a:latin typeface="Calibri" pitchFamily="34" charset="0"/>
                <a:ea typeface="Calibri" pitchFamily="34" charset="-122"/>
                <a:cs typeface="Calibri" pitchFamily="34" charset="-120"/>
              </a:rPr>
              <a:t>ASIA</a:t>
            </a:r>
            <a:endParaRPr lang="en-US" sz="900" dirty="0"/>
          </a:p>
        </p:txBody>
      </p:sp>
      <p:sp>
        <p:nvSpPr>
          <p:cNvPr id="19" name="Text 17"/>
          <p:cNvSpPr/>
          <p:nvPr/>
        </p:nvSpPr>
        <p:spPr>
          <a:xfrm>
            <a:off x="3429000" y="2496312"/>
            <a:ext cx="1463040" cy="256032"/>
          </a:xfrm>
          <a:prstGeom prst="rect">
            <a:avLst/>
          </a:prstGeom>
          <a:noFill/>
          <a:ln/>
        </p:spPr>
        <p:txBody>
          <a:bodyPr wrap="square" rtlCol="0" anchor="ctr"/>
          <a:lstStyle/>
          <a:p>
            <a:pPr indent="0" marL="0">
              <a:buNone/>
            </a:pPr>
            <a:r>
              <a:rPr lang="en-US" sz="850" dirty="0">
                <a:solidFill>
                  <a:srgbClr val="FFB3B3"/>
                </a:solidFill>
                <a:latin typeface="Calibri" pitchFamily="34" charset="0"/>
                <a:ea typeface="Calibri" pitchFamily="34" charset="-122"/>
                <a:cs typeface="Calibri" pitchFamily="34" charset="-120"/>
              </a:rPr>
              <a:t>55.8% of world total</a:t>
            </a:r>
            <a:endParaRPr lang="en-US" sz="850" dirty="0"/>
          </a:p>
        </p:txBody>
      </p:sp>
      <p:sp>
        <p:nvSpPr>
          <p:cNvPr id="20" name="Shape 18"/>
          <p:cNvSpPr/>
          <p:nvPr/>
        </p:nvSpPr>
        <p:spPr>
          <a:xfrm>
            <a:off x="5212080" y="1600200"/>
            <a:ext cx="1691640" cy="1261872"/>
          </a:xfrm>
          <a:prstGeom prst="rect">
            <a:avLst/>
          </a:prstGeom>
          <a:solidFill>
            <a:srgbClr val="E85A5A"/>
          </a:solidFill>
          <a:ln w="12700">
            <a:solidFill>
              <a:srgbClr val="E85A5A"/>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5303520" y="1709928"/>
            <a:ext cx="1463040" cy="54864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295M</a:t>
            </a:r>
            <a:endParaRPr lang="en-US" sz="2600" dirty="0"/>
          </a:p>
        </p:txBody>
      </p:sp>
      <p:sp>
        <p:nvSpPr>
          <p:cNvPr id="22" name="Text 20"/>
          <p:cNvSpPr/>
          <p:nvPr/>
        </p:nvSpPr>
        <p:spPr>
          <a:xfrm>
            <a:off x="5303520" y="2240280"/>
            <a:ext cx="1463040" cy="256032"/>
          </a:xfrm>
          <a:prstGeom prst="rect">
            <a:avLst/>
          </a:prstGeom>
          <a:noFill/>
          <a:ln/>
        </p:spPr>
        <p:txBody>
          <a:bodyPr wrap="square" rtlCol="0" anchor="ctr"/>
          <a:lstStyle/>
          <a:p>
            <a:pPr indent="0" marL="0">
              <a:buNone/>
            </a:pPr>
            <a:r>
              <a:rPr lang="en-US" sz="900" b="1" spc="150" kern="0" dirty="0">
                <a:solidFill>
                  <a:srgbClr val="FFDDE0"/>
                </a:solidFill>
                <a:latin typeface="Calibri" pitchFamily="34" charset="0"/>
                <a:ea typeface="Calibri" pitchFamily="34" charset="-122"/>
                <a:cs typeface="Calibri" pitchFamily="34" charset="-120"/>
              </a:rPr>
              <a:t>AFRICA</a:t>
            </a:r>
            <a:endParaRPr lang="en-US" sz="900" dirty="0"/>
          </a:p>
        </p:txBody>
      </p:sp>
      <p:sp>
        <p:nvSpPr>
          <p:cNvPr id="23" name="Text 21"/>
          <p:cNvSpPr/>
          <p:nvPr/>
        </p:nvSpPr>
        <p:spPr>
          <a:xfrm>
            <a:off x="5303520" y="2496312"/>
            <a:ext cx="1463040" cy="256032"/>
          </a:xfrm>
          <a:prstGeom prst="rect">
            <a:avLst/>
          </a:prstGeom>
          <a:noFill/>
          <a:ln/>
        </p:spPr>
        <p:txBody>
          <a:bodyPr wrap="square" rtlCol="0" anchor="ctr"/>
          <a:lstStyle/>
          <a:p>
            <a:pPr indent="0" marL="0">
              <a:buNone/>
            </a:pPr>
            <a:r>
              <a:rPr lang="en-US" sz="850" dirty="0">
                <a:solidFill>
                  <a:srgbClr val="FFB3B3"/>
                </a:solidFill>
                <a:latin typeface="Calibri" pitchFamily="34" charset="0"/>
                <a:ea typeface="Calibri" pitchFamily="34" charset="-122"/>
                <a:cs typeface="Calibri" pitchFamily="34" charset="-120"/>
              </a:rPr>
              <a:t>20.1% of world total</a:t>
            </a:r>
            <a:endParaRPr lang="en-US" sz="850" dirty="0"/>
          </a:p>
        </p:txBody>
      </p:sp>
      <p:sp>
        <p:nvSpPr>
          <p:cNvPr id="24" name="Shape 22"/>
          <p:cNvSpPr/>
          <p:nvPr/>
        </p:nvSpPr>
        <p:spPr>
          <a:xfrm>
            <a:off x="7086600" y="1600200"/>
            <a:ext cx="1691640" cy="1261872"/>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7178040" y="1709928"/>
            <a:ext cx="1463040" cy="54864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200M</a:t>
            </a:r>
            <a:endParaRPr lang="en-US" sz="2600" dirty="0"/>
          </a:p>
        </p:txBody>
      </p:sp>
      <p:sp>
        <p:nvSpPr>
          <p:cNvPr id="26" name="Text 24"/>
          <p:cNvSpPr/>
          <p:nvPr/>
        </p:nvSpPr>
        <p:spPr>
          <a:xfrm>
            <a:off x="7178040" y="2240280"/>
            <a:ext cx="1463040" cy="256032"/>
          </a:xfrm>
          <a:prstGeom prst="rect">
            <a:avLst/>
          </a:prstGeom>
          <a:noFill/>
          <a:ln/>
        </p:spPr>
        <p:txBody>
          <a:bodyPr wrap="square" rtlCol="0" anchor="ctr"/>
          <a:lstStyle/>
          <a:p>
            <a:pPr indent="0" marL="0">
              <a:buNone/>
            </a:pPr>
            <a:r>
              <a:rPr lang="en-US" sz="900" b="1" spc="150" kern="0" dirty="0">
                <a:solidFill>
                  <a:srgbClr val="FFDDE0"/>
                </a:solidFill>
                <a:latin typeface="Calibri" pitchFamily="34" charset="0"/>
                <a:ea typeface="Calibri" pitchFamily="34" charset="-122"/>
                <a:cs typeface="Calibri" pitchFamily="34" charset="-120"/>
              </a:rPr>
              <a:t>EUROPE</a:t>
            </a:r>
            <a:endParaRPr lang="en-US" sz="900" dirty="0"/>
          </a:p>
        </p:txBody>
      </p:sp>
      <p:sp>
        <p:nvSpPr>
          <p:cNvPr id="27" name="Text 25"/>
          <p:cNvSpPr/>
          <p:nvPr/>
        </p:nvSpPr>
        <p:spPr>
          <a:xfrm>
            <a:off x="7178040" y="2496312"/>
            <a:ext cx="1463040" cy="256032"/>
          </a:xfrm>
          <a:prstGeom prst="rect">
            <a:avLst/>
          </a:prstGeom>
          <a:noFill/>
          <a:ln/>
        </p:spPr>
        <p:txBody>
          <a:bodyPr wrap="square" rtlCol="0" anchor="ctr"/>
          <a:lstStyle/>
          <a:p>
            <a:pPr indent="0" marL="0">
              <a:buNone/>
            </a:pPr>
            <a:r>
              <a:rPr lang="en-US" sz="850" dirty="0">
                <a:solidFill>
                  <a:srgbClr val="FFB3B3"/>
                </a:solidFill>
                <a:latin typeface="Calibri" pitchFamily="34" charset="0"/>
                <a:ea typeface="Calibri" pitchFamily="34" charset="-122"/>
                <a:cs typeface="Calibri" pitchFamily="34" charset="-120"/>
              </a:rPr>
              <a:t>13.6% of world total</a:t>
            </a:r>
            <a:endParaRPr lang="en-US" sz="850" dirty="0"/>
          </a:p>
        </p:txBody>
      </p:sp>
      <p:sp>
        <p:nvSpPr>
          <p:cNvPr id="28" name="Shape 26"/>
          <p:cNvSpPr/>
          <p:nvPr/>
        </p:nvSpPr>
        <p:spPr>
          <a:xfrm>
            <a:off x="3337560" y="3063240"/>
            <a:ext cx="1691640" cy="1261872"/>
          </a:xfrm>
          <a:prstGeom prst="rect">
            <a:avLst/>
          </a:prstGeom>
          <a:solidFill>
            <a:srgbClr val="E07070"/>
          </a:solidFill>
          <a:ln w="12700">
            <a:solidFill>
              <a:srgbClr val="E07070"/>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3429000" y="3172968"/>
            <a:ext cx="1463040" cy="54864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145M</a:t>
            </a:r>
            <a:endParaRPr lang="en-US" sz="2600" dirty="0"/>
          </a:p>
        </p:txBody>
      </p:sp>
      <p:sp>
        <p:nvSpPr>
          <p:cNvPr id="30" name="Text 28"/>
          <p:cNvSpPr/>
          <p:nvPr/>
        </p:nvSpPr>
        <p:spPr>
          <a:xfrm>
            <a:off x="3429000" y="3703320"/>
            <a:ext cx="1463040" cy="256032"/>
          </a:xfrm>
          <a:prstGeom prst="rect">
            <a:avLst/>
          </a:prstGeom>
          <a:noFill/>
          <a:ln/>
        </p:spPr>
        <p:txBody>
          <a:bodyPr wrap="square" rtlCol="0" anchor="ctr"/>
          <a:lstStyle/>
          <a:p>
            <a:pPr indent="0" marL="0">
              <a:buNone/>
            </a:pPr>
            <a:r>
              <a:rPr lang="en-US" sz="900" b="1" spc="150" kern="0" dirty="0">
                <a:solidFill>
                  <a:srgbClr val="FFDDE0"/>
                </a:solidFill>
                <a:latin typeface="Calibri" pitchFamily="34" charset="0"/>
                <a:ea typeface="Calibri" pitchFamily="34" charset="-122"/>
                <a:cs typeface="Calibri" pitchFamily="34" charset="-120"/>
              </a:rPr>
              <a:t>AMERICAS</a:t>
            </a:r>
            <a:endParaRPr lang="en-US" sz="900" dirty="0"/>
          </a:p>
        </p:txBody>
      </p:sp>
      <p:sp>
        <p:nvSpPr>
          <p:cNvPr id="31" name="Text 29"/>
          <p:cNvSpPr/>
          <p:nvPr/>
        </p:nvSpPr>
        <p:spPr>
          <a:xfrm>
            <a:off x="3429000" y="3959352"/>
            <a:ext cx="1463040" cy="256032"/>
          </a:xfrm>
          <a:prstGeom prst="rect">
            <a:avLst/>
          </a:prstGeom>
          <a:noFill/>
          <a:ln/>
        </p:spPr>
        <p:txBody>
          <a:bodyPr wrap="square" rtlCol="0" anchor="ctr"/>
          <a:lstStyle/>
          <a:p>
            <a:pPr indent="0" marL="0">
              <a:buNone/>
            </a:pPr>
            <a:r>
              <a:rPr lang="en-US" sz="850" dirty="0">
                <a:solidFill>
                  <a:srgbClr val="FFB3B3"/>
                </a:solidFill>
                <a:latin typeface="Calibri" pitchFamily="34" charset="0"/>
                <a:ea typeface="Calibri" pitchFamily="34" charset="-122"/>
                <a:cs typeface="Calibri" pitchFamily="34" charset="-120"/>
              </a:rPr>
              <a:t>9.9% of world total</a:t>
            </a:r>
            <a:endParaRPr lang="en-US" sz="850" dirty="0"/>
          </a:p>
        </p:txBody>
      </p:sp>
      <p:sp>
        <p:nvSpPr>
          <p:cNvPr id="32" name="Shape 30"/>
          <p:cNvSpPr/>
          <p:nvPr/>
        </p:nvSpPr>
        <p:spPr>
          <a:xfrm>
            <a:off x="5212080" y="3063240"/>
            <a:ext cx="1691640" cy="1261872"/>
          </a:xfrm>
          <a:prstGeom prst="rect">
            <a:avLst/>
          </a:prstGeom>
          <a:solidFill>
            <a:srgbClr val="FFDDE0"/>
          </a:solidFill>
          <a:ln w="12700">
            <a:solidFill>
              <a:srgbClr val="FFDDE0"/>
            </a:solidFill>
            <a:prstDash val="solid"/>
          </a:ln>
          <a:effectLst>
            <a:outerShdw sx="100000" sy="100000" kx="0" ky="0" algn="bl" rotWithShape="0" blurRad="101600" dist="38100" dir="8100000">
              <a:srgbClr val="000000">
                <a:alpha val="12000"/>
              </a:srgbClr>
            </a:outerShdw>
          </a:effectLst>
        </p:spPr>
      </p:sp>
      <p:sp>
        <p:nvSpPr>
          <p:cNvPr id="33" name="Text 31"/>
          <p:cNvSpPr/>
          <p:nvPr/>
        </p:nvSpPr>
        <p:spPr>
          <a:xfrm>
            <a:off x="5303520" y="3172968"/>
            <a:ext cx="1463040" cy="548640"/>
          </a:xfrm>
          <a:prstGeom prst="rect">
            <a:avLst/>
          </a:prstGeom>
          <a:noFill/>
          <a:ln/>
        </p:spPr>
        <p:txBody>
          <a:bodyPr wrap="square" rtlCol="0" anchor="ctr"/>
          <a:lstStyle/>
          <a:p>
            <a:pPr indent="0" marL="0">
              <a:buNone/>
            </a:pPr>
            <a:r>
              <a:rPr lang="en-US" sz="2600" b="1" dirty="0">
                <a:solidFill>
                  <a:srgbClr val="8B0000"/>
                </a:solidFill>
                <a:latin typeface="Trebuchet MS" pitchFamily="34" charset="0"/>
                <a:ea typeface="Trebuchet MS" pitchFamily="34" charset="-122"/>
                <a:cs typeface="Trebuchet MS" pitchFamily="34" charset="-120"/>
              </a:rPr>
              <a:t>12M</a:t>
            </a:r>
            <a:endParaRPr lang="en-US" sz="2600" dirty="0"/>
          </a:p>
        </p:txBody>
      </p:sp>
      <p:sp>
        <p:nvSpPr>
          <p:cNvPr id="34" name="Text 32"/>
          <p:cNvSpPr/>
          <p:nvPr/>
        </p:nvSpPr>
        <p:spPr>
          <a:xfrm>
            <a:off x="5303520" y="3703320"/>
            <a:ext cx="1463040" cy="256032"/>
          </a:xfrm>
          <a:prstGeom prst="rect">
            <a:avLst/>
          </a:prstGeom>
          <a:noFill/>
          <a:ln/>
        </p:spPr>
        <p:txBody>
          <a:bodyPr wrap="square" rtlCol="0" anchor="ctr"/>
          <a:lstStyle/>
          <a:p>
            <a:pPr indent="0" marL="0">
              <a:buNone/>
            </a:pPr>
            <a:r>
              <a:rPr lang="en-US" sz="900" b="1" spc="150" kern="0" dirty="0">
                <a:solidFill>
                  <a:srgbClr val="222222"/>
                </a:solidFill>
                <a:latin typeface="Calibri" pitchFamily="34" charset="0"/>
                <a:ea typeface="Calibri" pitchFamily="34" charset="-122"/>
                <a:cs typeface="Calibri" pitchFamily="34" charset="-120"/>
              </a:rPr>
              <a:t>OCEANIA</a:t>
            </a:r>
            <a:endParaRPr lang="en-US" sz="900" dirty="0"/>
          </a:p>
        </p:txBody>
      </p:sp>
      <p:sp>
        <p:nvSpPr>
          <p:cNvPr id="35" name="Text 33"/>
          <p:cNvSpPr/>
          <p:nvPr/>
        </p:nvSpPr>
        <p:spPr>
          <a:xfrm>
            <a:off x="5303520" y="3959352"/>
            <a:ext cx="1463040" cy="256032"/>
          </a:xfrm>
          <a:prstGeom prst="rect">
            <a:avLst/>
          </a:prstGeom>
          <a:noFill/>
          <a:ln/>
        </p:spPr>
        <p:txBody>
          <a:bodyPr wrap="square" rtlCol="0" anchor="ctr"/>
          <a:lstStyle/>
          <a:p>
            <a:pPr indent="0" marL="0">
              <a:buNone/>
            </a:pPr>
            <a:r>
              <a:rPr lang="en-US" sz="850" dirty="0">
                <a:solidFill>
                  <a:srgbClr val="475569"/>
                </a:solidFill>
                <a:latin typeface="Calibri" pitchFamily="34" charset="0"/>
                <a:ea typeface="Calibri" pitchFamily="34" charset="-122"/>
                <a:cs typeface="Calibri" pitchFamily="34" charset="-120"/>
              </a:rPr>
              <a:t>0.6% of world total</a:t>
            </a:r>
            <a:endParaRPr lang="en-US" sz="850" dirty="0"/>
          </a:p>
        </p:txBody>
      </p:sp>
      <p:sp>
        <p:nvSpPr>
          <p:cNvPr id="36" name="Shape 34"/>
          <p:cNvSpPr/>
          <p:nvPr/>
        </p:nvSpPr>
        <p:spPr>
          <a:xfrm>
            <a:off x="3337560" y="4389120"/>
            <a:ext cx="5486400" cy="502920"/>
          </a:xfrm>
          <a:prstGeom prst="rect">
            <a:avLst/>
          </a:prstGeom>
          <a:solidFill>
            <a:srgbClr val="8B0000"/>
          </a:solidFill>
          <a:ln w="12700">
            <a:solidFill>
              <a:srgbClr val="8B0000"/>
            </a:solidFill>
            <a:prstDash val="solid"/>
          </a:ln>
          <a:effectLst>
            <a:outerShdw sx="100000" sy="100000" kx="0" ky="0" algn="bl" rotWithShape="0" blurRad="101600" dist="38100" dir="8100000">
              <a:srgbClr val="000000">
                <a:alpha val="12000"/>
              </a:srgbClr>
            </a:outerShdw>
          </a:effectLst>
        </p:spPr>
      </p:sp>
      <p:sp>
        <p:nvSpPr>
          <p:cNvPr id="37" name="Text 35"/>
          <p:cNvSpPr/>
          <p:nvPr/>
        </p:nvSpPr>
        <p:spPr>
          <a:xfrm>
            <a:off x="3429000" y="4434840"/>
            <a:ext cx="5303520" cy="41148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Asia alone accounts for 55%+ of global mortality — yet receives disproportionately less per-capita health investment.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DATA FOUNDATION</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Dataset Information &amp; Source</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34440"/>
            <a:ext cx="3931920" cy="3566160"/>
          </a:xfrm>
          <a:prstGeom prst="rect">
            <a:avLst/>
          </a:prstGeom>
          <a:solidFill>
            <a:srgbClr val="FFDDE0"/>
          </a:solidFill>
          <a:ln w="12700">
            <a:solidFill>
              <a:srgbClr val="FFDDE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234440"/>
            <a:ext cx="64008" cy="3566160"/>
          </a:xfrm>
          <a:prstGeom prst="rect">
            <a:avLst/>
          </a:prstGeom>
          <a:solidFill>
            <a:srgbClr val="8B0000"/>
          </a:solidFill>
          <a:ln w="12700">
            <a:solidFill>
              <a:srgbClr val="8B0000"/>
            </a:solidFill>
            <a:prstDash val="solid"/>
          </a:ln>
        </p:spPr>
      </p:sp>
      <p:sp>
        <p:nvSpPr>
          <p:cNvPr id="7" name="Text 5"/>
          <p:cNvSpPr/>
          <p:nvPr/>
        </p:nvSpPr>
        <p:spPr>
          <a:xfrm>
            <a:off x="594360" y="1353312"/>
            <a:ext cx="3749040" cy="256032"/>
          </a:xfrm>
          <a:prstGeom prst="rect">
            <a:avLst/>
          </a:prstGeom>
          <a:noFill/>
          <a:ln/>
        </p:spPr>
        <p:txBody>
          <a:bodyPr wrap="square" rtlCol="0" anchor="ctr"/>
          <a:lstStyle/>
          <a:p>
            <a:pPr indent="0" marL="0">
              <a:buNone/>
            </a:pPr>
            <a:r>
              <a:rPr lang="en-US" sz="900" b="1" spc="150" kern="0" dirty="0">
                <a:solidFill>
                  <a:srgbClr val="8B0000"/>
                </a:solidFill>
                <a:latin typeface="Calibri" pitchFamily="34" charset="0"/>
                <a:ea typeface="Calibri" pitchFamily="34" charset="-122"/>
                <a:cs typeface="Calibri" pitchFamily="34" charset="-120"/>
              </a:rPr>
              <a:t>DATASET FACTS (VERBATIM)</a:t>
            </a:r>
            <a:endParaRPr lang="en-US" sz="900" dirty="0"/>
          </a:p>
        </p:txBody>
      </p:sp>
      <p:sp>
        <p:nvSpPr>
          <p:cNvPr id="8" name="Shape 6"/>
          <p:cNvSpPr/>
          <p:nvPr/>
        </p:nvSpPr>
        <p:spPr>
          <a:xfrm>
            <a:off x="594360" y="1664208"/>
            <a:ext cx="3657600" cy="749808"/>
          </a:xfrm>
          <a:prstGeom prst="rect">
            <a:avLst/>
          </a:prstGeom>
          <a:solidFill>
            <a:srgbClr val="FFFFFF"/>
          </a:solidFill>
          <a:ln w="12700">
            <a:solidFill>
              <a:srgbClr val="E85A5A"/>
            </a:solidFill>
            <a:prstDash val="solid"/>
          </a:ln>
        </p:spPr>
      </p:sp>
      <p:sp>
        <p:nvSpPr>
          <p:cNvPr id="9" name="Text 7"/>
          <p:cNvSpPr/>
          <p:nvPr/>
        </p:nvSpPr>
        <p:spPr>
          <a:xfrm>
            <a:off x="685800" y="1709928"/>
            <a:ext cx="3474720" cy="658368"/>
          </a:xfrm>
          <a:prstGeom prst="rect">
            <a:avLst/>
          </a:prstGeom>
          <a:noFill/>
          <a:ln/>
        </p:spPr>
        <p:txBody>
          <a:bodyPr wrap="square" rtlCol="0" anchor="ctr"/>
          <a:lstStyle/>
          <a:p>
            <a:pPr indent="0" marL="0">
              <a:buNone/>
            </a:pPr>
            <a:r>
              <a:rPr lang="en-US" sz="1000" i="1" dirty="0">
                <a:solidFill>
                  <a:srgbClr val="8B0000"/>
                </a:solidFill>
                <a:latin typeface="Calibri" pitchFamily="34" charset="0"/>
                <a:ea typeface="Calibri" pitchFamily="34" charset="-122"/>
                <a:cs typeface="Calibri" pitchFamily="34" charset="-120"/>
              </a:rPr>
              <a:t>"Worldwide total deaths is 1.47 billion from year 1990 to 2019. Yearly Avg deaths is 48.9 million."</a:t>
            </a:r>
            <a:endParaRPr lang="en-US" sz="1000" dirty="0"/>
          </a:p>
        </p:txBody>
      </p:sp>
      <p:sp>
        <p:nvSpPr>
          <p:cNvPr id="10" name="Shape 8"/>
          <p:cNvSpPr/>
          <p:nvPr/>
        </p:nvSpPr>
        <p:spPr>
          <a:xfrm>
            <a:off x="594360" y="2514600"/>
            <a:ext cx="3657600" cy="841248"/>
          </a:xfrm>
          <a:prstGeom prst="rect">
            <a:avLst/>
          </a:prstGeom>
          <a:solidFill>
            <a:srgbClr val="FFFFFF"/>
          </a:solidFill>
          <a:ln w="12700">
            <a:solidFill>
              <a:srgbClr val="E85A5A"/>
            </a:solidFill>
            <a:prstDash val="solid"/>
          </a:ln>
        </p:spPr>
      </p:sp>
      <p:sp>
        <p:nvSpPr>
          <p:cNvPr id="11" name="Text 9"/>
          <p:cNvSpPr/>
          <p:nvPr/>
        </p:nvSpPr>
        <p:spPr>
          <a:xfrm>
            <a:off x="685800" y="2560320"/>
            <a:ext cx="3474720" cy="749808"/>
          </a:xfrm>
          <a:prstGeom prst="rect">
            <a:avLst/>
          </a:prstGeom>
          <a:noFill/>
          <a:ln/>
        </p:spPr>
        <p:txBody>
          <a:bodyPr wrap="square" rtlCol="0" anchor="ctr"/>
          <a:lstStyle/>
          <a:p>
            <a:pPr indent="0" marL="0">
              <a:buNone/>
            </a:pPr>
            <a:r>
              <a:rPr lang="en-US" sz="1000" i="1" dirty="0">
                <a:solidFill>
                  <a:srgbClr val="8B0000"/>
                </a:solidFill>
                <a:latin typeface="Calibri" pitchFamily="34" charset="0"/>
                <a:ea typeface="Calibri" pitchFamily="34" charset="-122"/>
                <a:cs typeface="Calibri" pitchFamily="34" charset="-120"/>
              </a:rPr>
              <a:t>"China has maximum number of deaths 265.41 million which is 18.10% of worldwide deaths. Followed by India 238.16 million (16.2%)."</a:t>
            </a:r>
            <a:endParaRPr lang="en-US" sz="1000" dirty="0"/>
          </a:p>
        </p:txBody>
      </p:sp>
      <p:sp>
        <p:nvSpPr>
          <p:cNvPr id="12" name="Text 10"/>
          <p:cNvSpPr/>
          <p:nvPr/>
        </p:nvSpPr>
        <p:spPr>
          <a:xfrm>
            <a:off x="594360" y="3474720"/>
            <a:ext cx="3657600" cy="256032"/>
          </a:xfrm>
          <a:prstGeom prst="rect">
            <a:avLst/>
          </a:prstGeom>
          <a:noFill/>
          <a:ln/>
        </p:spPr>
        <p:txBody>
          <a:bodyPr wrap="square" rtlCol="0" anchor="ctr"/>
          <a:lstStyle/>
          <a:p>
            <a:pPr indent="0" marL="0">
              <a:buNone/>
            </a:pPr>
            <a:r>
              <a:rPr lang="en-US" sz="900" b="1" dirty="0">
                <a:solidFill>
                  <a:srgbClr val="222222"/>
                </a:solidFill>
                <a:latin typeface="Calibri" pitchFamily="34" charset="0"/>
                <a:ea typeface="Calibri" pitchFamily="34" charset="-122"/>
                <a:cs typeface="Calibri" pitchFamily="34" charset="-120"/>
              </a:rPr>
              <a:t>TOP CAUSES (Yearly Average):</a:t>
            </a:r>
            <a:endParaRPr lang="en-US" sz="900" dirty="0"/>
          </a:p>
        </p:txBody>
      </p:sp>
      <p:sp>
        <p:nvSpPr>
          <p:cNvPr id="13" name="Text 11"/>
          <p:cNvSpPr/>
          <p:nvPr/>
        </p:nvSpPr>
        <p:spPr>
          <a:xfrm>
            <a:off x="594360" y="3730752"/>
            <a:ext cx="3657600" cy="658368"/>
          </a:xfrm>
          <a:prstGeom prst="rect">
            <a:avLst/>
          </a:prstGeom>
          <a:noFill/>
          <a:ln/>
        </p:spPr>
        <p:txBody>
          <a:bodyPr wrap="square"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Cardiovascular Diseases: </a:t>
            </a:r>
            <a:pPr indent="0" marL="0">
              <a:buNone/>
            </a:pPr>
            <a:r>
              <a:rPr lang="en-US" sz="1100" dirty="0">
                <a:solidFill>
                  <a:srgbClr val="222222"/>
                </a:solidFill>
                <a:latin typeface="Calibri" pitchFamily="34" charset="0"/>
                <a:ea typeface="Calibri" pitchFamily="34" charset="-122"/>
                <a:cs typeface="Calibri" pitchFamily="34" charset="-120"/>
              </a:rPr>
              <a:t>14.92M/yr
</a:t>
            </a:r>
            <a:pPr indent="0" marL="0">
              <a:buNone/>
            </a:pPr>
            <a:r>
              <a:rPr lang="en-US" sz="1100" b="1" dirty="0">
                <a:solidFill>
                  <a:srgbClr val="E85A5A"/>
                </a:solidFill>
                <a:latin typeface="Calibri" pitchFamily="34" charset="0"/>
                <a:ea typeface="Calibri" pitchFamily="34" charset="-122"/>
                <a:cs typeface="Calibri" pitchFamily="34" charset="-120"/>
              </a:rPr>
              <a:t>Neoplasms (Cancers): </a:t>
            </a:r>
            <a:pPr indent="0" marL="0">
              <a:buNone/>
            </a:pPr>
            <a:r>
              <a:rPr lang="en-US" sz="1100" dirty="0">
                <a:solidFill>
                  <a:srgbClr val="222222"/>
                </a:solidFill>
                <a:latin typeface="Calibri" pitchFamily="34" charset="0"/>
                <a:ea typeface="Calibri" pitchFamily="34" charset="-122"/>
                <a:cs typeface="Calibri" pitchFamily="34" charset="-120"/>
              </a:rPr>
              <a:t>7.66M/yr</a:t>
            </a:r>
            <a:endParaRPr lang="en-US" sz="1100" dirty="0"/>
          </a:p>
        </p:txBody>
      </p:sp>
      <p:sp>
        <p:nvSpPr>
          <p:cNvPr id="14" name="Text 12"/>
          <p:cNvSpPr/>
          <p:nvPr/>
        </p:nvSpPr>
        <p:spPr>
          <a:xfrm>
            <a:off x="594360" y="4480560"/>
            <a:ext cx="3657600" cy="228600"/>
          </a:xfrm>
          <a:prstGeom prst="rect">
            <a:avLst/>
          </a:prstGeom>
          <a:noFill/>
          <a:ln/>
        </p:spPr>
        <p:txBody>
          <a:bodyPr wrap="square"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Source: Global Burden of Disease (GBD) Study | UN WPP 2024</a:t>
            </a:r>
            <a:endParaRPr lang="en-US" sz="850" dirty="0"/>
          </a:p>
        </p:txBody>
      </p:sp>
      <p:sp>
        <p:nvSpPr>
          <p:cNvPr id="15" name="Text 13"/>
          <p:cNvSpPr/>
          <p:nvPr/>
        </p:nvSpPr>
        <p:spPr>
          <a:xfrm>
            <a:off x="4663440" y="1234440"/>
            <a:ext cx="4114800" cy="274320"/>
          </a:xfrm>
          <a:prstGeom prst="rect">
            <a:avLst/>
          </a:prstGeom>
          <a:noFill/>
          <a:ln/>
        </p:spPr>
        <p:txBody>
          <a:bodyPr wrap="square" rtlCol="0" anchor="ctr"/>
          <a:lstStyle/>
          <a:p>
            <a:pPr indent="0" marL="0">
              <a:buNone/>
            </a:pPr>
            <a:r>
              <a:rPr lang="en-US" sz="950" b="1" spc="150" kern="0" dirty="0">
                <a:solidFill>
                  <a:srgbClr val="8B0000"/>
                </a:solidFill>
                <a:latin typeface="Calibri" pitchFamily="34" charset="0"/>
                <a:ea typeface="Calibri" pitchFamily="34" charset="-122"/>
                <a:cs typeface="Calibri" pitchFamily="34" charset="-120"/>
              </a:rPr>
              <a:t>KEY DATA FIELDS</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663440" y="1572768"/>
          <a:ext cx="4114800" cy="2560320"/>
        </p:xfrm>
        <a:graphic>
          <a:graphicData uri="http://schemas.openxmlformats.org/drawingml/2006/table">
            <a:tbl>
              <a:tblPr/>
              <a:tblGrid>
                <a:gridCol w="1097280"/>
                <a:gridCol w="2011680"/>
                <a:gridCol w="1005840"/>
              </a:tblGrid>
              <a:tr h="32918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Description</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Calendar year (1990–2019)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Integer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Country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Nation name (195+ entities)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Continent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6 geographic regions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WHO/GBD cause category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Raw death count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Integer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AvgDeaths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Annual average 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Decimal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329184">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PctOfWorld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 share of world total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Decimal %</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7" name="Shape 14"/>
          <p:cNvSpPr/>
          <p:nvPr/>
        </p:nvSpPr>
        <p:spPr>
          <a:xfrm>
            <a:off x="4663440" y="4251960"/>
            <a:ext cx="1920240" cy="713232"/>
          </a:xfrm>
          <a:prstGeom prst="rect">
            <a:avLst/>
          </a:prstGeom>
          <a:solidFill>
            <a:srgbClr val="FFDDE0"/>
          </a:solidFill>
          <a:ln w="12700">
            <a:solidFill>
              <a:srgbClr val="FFDDE0"/>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4663440" y="4251960"/>
            <a:ext cx="54864" cy="713232"/>
          </a:xfrm>
          <a:prstGeom prst="rect">
            <a:avLst/>
          </a:prstGeom>
          <a:solidFill>
            <a:srgbClr val="8B0000"/>
          </a:solidFill>
          <a:ln w="12700">
            <a:solidFill>
              <a:srgbClr val="8B0000"/>
            </a:solidFill>
            <a:prstDash val="solid"/>
          </a:ln>
        </p:spPr>
      </p:sp>
      <p:sp>
        <p:nvSpPr>
          <p:cNvPr id="19" name="Text 16"/>
          <p:cNvSpPr/>
          <p:nvPr/>
        </p:nvSpPr>
        <p:spPr>
          <a:xfrm>
            <a:off x="4773168" y="4343400"/>
            <a:ext cx="1755648" cy="356616"/>
          </a:xfrm>
          <a:prstGeom prst="rect">
            <a:avLst/>
          </a:prstGeom>
          <a:noFill/>
          <a:ln/>
        </p:spPr>
        <p:txBody>
          <a:bodyPr wrap="square" rtlCol="0" anchor="ctr"/>
          <a:lstStyle/>
          <a:p>
            <a:pPr indent="0" marL="0">
              <a:buNone/>
            </a:pPr>
            <a:r>
              <a:rPr lang="en-US" sz="2200" b="1" dirty="0">
                <a:solidFill>
                  <a:srgbClr val="8B0000"/>
                </a:solidFill>
                <a:latin typeface="Trebuchet MS" pitchFamily="34" charset="0"/>
                <a:ea typeface="Trebuchet MS" pitchFamily="34" charset="-122"/>
                <a:cs typeface="Trebuchet MS" pitchFamily="34" charset="-120"/>
              </a:rPr>
              <a:t>~7,000</a:t>
            </a:r>
            <a:endParaRPr lang="en-US" sz="2200" dirty="0"/>
          </a:p>
        </p:txBody>
      </p:sp>
      <p:sp>
        <p:nvSpPr>
          <p:cNvPr id="20" name="Text 17"/>
          <p:cNvSpPr/>
          <p:nvPr/>
        </p:nvSpPr>
        <p:spPr>
          <a:xfrm>
            <a:off x="4773168" y="4622841"/>
            <a:ext cx="1755648" cy="199705"/>
          </a:xfrm>
          <a:prstGeom prst="rect">
            <a:avLst/>
          </a:prstGeom>
          <a:noFill/>
          <a:ln/>
        </p:spPr>
        <p:txBody>
          <a:bodyPr wrap="square" rtlCol="0" anchor="t"/>
          <a:lstStyle/>
          <a:p>
            <a:pPr indent="0" marL="0">
              <a:buNone/>
            </a:pPr>
            <a:r>
              <a:rPr lang="en-US" sz="1000" b="1" dirty="0">
                <a:solidFill>
                  <a:srgbClr val="222222"/>
                </a:solidFill>
                <a:latin typeface="Calibri" pitchFamily="34" charset="0"/>
                <a:ea typeface="Calibri" pitchFamily="34" charset="-122"/>
                <a:cs typeface="Calibri" pitchFamily="34" charset="-120"/>
              </a:rPr>
              <a:t>DATA ROWS (1990–2019)</a:t>
            </a:r>
            <a:endParaRPr lang="en-US" sz="1000" dirty="0"/>
          </a:p>
        </p:txBody>
      </p:sp>
      <p:sp>
        <p:nvSpPr>
          <p:cNvPr id="21" name="Text 18"/>
          <p:cNvSpPr/>
          <p:nvPr/>
        </p:nvSpPr>
        <p:spPr>
          <a:xfrm>
            <a:off x="4773168" y="4808281"/>
            <a:ext cx="1755648" cy="156911"/>
          </a:xfrm>
          <a:prstGeom prst="rect">
            <a:avLst/>
          </a:prstGeom>
          <a:noFill/>
          <a:ln/>
        </p:spPr>
        <p:txBody>
          <a:bodyPr wrap="square" rtlCol="0" anchor="t"/>
          <a:lstStyle/>
          <a:p>
            <a:pPr indent="0" marL="0">
              <a:buNone/>
            </a:pPr>
            <a:r>
              <a:rPr lang="en-US" sz="800" dirty="0">
                <a:solidFill>
                  <a:srgbClr val="475569"/>
                </a:solidFill>
                <a:latin typeface="Calibri" pitchFamily="34" charset="0"/>
                <a:ea typeface="Calibri" pitchFamily="34" charset="-122"/>
                <a:cs typeface="Calibri" pitchFamily="34" charset="-120"/>
              </a:rPr>
              <a:t>Countries × Years</a:t>
            </a:r>
            <a:endParaRPr lang="en-US" sz="800" dirty="0"/>
          </a:p>
        </p:txBody>
      </p:sp>
      <p:sp>
        <p:nvSpPr>
          <p:cNvPr id="22" name="Shape 19"/>
          <p:cNvSpPr/>
          <p:nvPr/>
        </p:nvSpPr>
        <p:spPr>
          <a:xfrm>
            <a:off x="6766560" y="4251960"/>
            <a:ext cx="2011680" cy="713232"/>
          </a:xfrm>
          <a:prstGeom prst="rect">
            <a:avLst/>
          </a:prstGeom>
          <a:solidFill>
            <a:srgbClr val="FFDDE0"/>
          </a:solidFill>
          <a:ln w="12700">
            <a:solidFill>
              <a:srgbClr val="FFDDE0"/>
            </a:solidFill>
            <a:prstDash val="solid"/>
          </a:ln>
          <a:effectLst>
            <a:outerShdw sx="100000" sy="100000" kx="0" ky="0" algn="bl" rotWithShape="0" blurRad="101600" dist="38100" dir="8100000">
              <a:srgbClr val="000000">
                <a:alpha val="12000"/>
              </a:srgbClr>
            </a:outerShdw>
          </a:effectLst>
        </p:spPr>
      </p:sp>
      <p:sp>
        <p:nvSpPr>
          <p:cNvPr id="23" name="Shape 20"/>
          <p:cNvSpPr/>
          <p:nvPr/>
        </p:nvSpPr>
        <p:spPr>
          <a:xfrm>
            <a:off x="6766560" y="4251960"/>
            <a:ext cx="54864" cy="713232"/>
          </a:xfrm>
          <a:prstGeom prst="rect">
            <a:avLst/>
          </a:prstGeom>
          <a:solidFill>
            <a:srgbClr val="8B0000"/>
          </a:solidFill>
          <a:ln w="12700">
            <a:solidFill>
              <a:srgbClr val="8B0000"/>
            </a:solidFill>
            <a:prstDash val="solid"/>
          </a:ln>
        </p:spPr>
      </p:sp>
      <p:sp>
        <p:nvSpPr>
          <p:cNvPr id="24" name="Text 21"/>
          <p:cNvSpPr/>
          <p:nvPr/>
        </p:nvSpPr>
        <p:spPr>
          <a:xfrm>
            <a:off x="6876288" y="4343400"/>
            <a:ext cx="1847088" cy="356616"/>
          </a:xfrm>
          <a:prstGeom prst="rect">
            <a:avLst/>
          </a:prstGeom>
          <a:noFill/>
          <a:ln/>
        </p:spPr>
        <p:txBody>
          <a:bodyPr wrap="square" rtlCol="0" anchor="ctr"/>
          <a:lstStyle/>
          <a:p>
            <a:pPr indent="0" marL="0">
              <a:buNone/>
            </a:pPr>
            <a:r>
              <a:rPr lang="en-US" sz="2200" b="1" dirty="0">
                <a:solidFill>
                  <a:srgbClr val="8B0000"/>
                </a:solidFill>
                <a:latin typeface="Trebuchet MS" pitchFamily="34" charset="0"/>
                <a:ea typeface="Trebuchet MS" pitchFamily="34" charset="-122"/>
                <a:cs typeface="Trebuchet MS" pitchFamily="34" charset="-120"/>
              </a:rPr>
              <a:t>30 Yrs</a:t>
            </a:r>
            <a:endParaRPr lang="en-US" sz="2200" dirty="0"/>
          </a:p>
        </p:txBody>
      </p:sp>
      <p:sp>
        <p:nvSpPr>
          <p:cNvPr id="25" name="Text 22"/>
          <p:cNvSpPr/>
          <p:nvPr/>
        </p:nvSpPr>
        <p:spPr>
          <a:xfrm>
            <a:off x="6876288" y="4622841"/>
            <a:ext cx="1847088" cy="199705"/>
          </a:xfrm>
          <a:prstGeom prst="rect">
            <a:avLst/>
          </a:prstGeom>
          <a:noFill/>
          <a:ln/>
        </p:spPr>
        <p:txBody>
          <a:bodyPr wrap="square" rtlCol="0" anchor="t"/>
          <a:lstStyle/>
          <a:p>
            <a:pPr indent="0" marL="0">
              <a:buNone/>
            </a:pPr>
            <a:r>
              <a:rPr lang="en-US" sz="1000" b="1" dirty="0">
                <a:solidFill>
                  <a:srgbClr val="222222"/>
                </a:solidFill>
                <a:latin typeface="Calibri" pitchFamily="34" charset="0"/>
                <a:ea typeface="Calibri" pitchFamily="34" charset="-122"/>
                <a:cs typeface="Calibri" pitchFamily="34" charset="-120"/>
              </a:rPr>
              <a:t>TEMPORAL COVERAGE</a:t>
            </a:r>
            <a:endParaRPr lang="en-US" sz="1000" dirty="0"/>
          </a:p>
        </p:txBody>
      </p:sp>
      <p:sp>
        <p:nvSpPr>
          <p:cNvPr id="26" name="Text 23"/>
          <p:cNvSpPr/>
          <p:nvPr/>
        </p:nvSpPr>
        <p:spPr>
          <a:xfrm>
            <a:off x="6876288" y="4808281"/>
            <a:ext cx="1847088" cy="156911"/>
          </a:xfrm>
          <a:prstGeom prst="rect">
            <a:avLst/>
          </a:prstGeom>
          <a:noFill/>
          <a:ln/>
        </p:spPr>
        <p:txBody>
          <a:bodyPr wrap="square" rtlCol="0" anchor="t"/>
          <a:lstStyle/>
          <a:p>
            <a:pPr indent="0" marL="0">
              <a:buNone/>
            </a:pPr>
            <a:r>
              <a:rPr lang="en-US" sz="800" dirty="0">
                <a:solidFill>
                  <a:srgbClr val="475569"/>
                </a:solidFill>
                <a:latin typeface="Calibri" pitchFamily="34" charset="0"/>
                <a:ea typeface="Calibri" pitchFamily="34" charset="-122"/>
                <a:cs typeface="Calibri" pitchFamily="34" charset="-120"/>
              </a:rPr>
              <a:t>Annual granularity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DATA PREPARATION</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Data Cleaning Steps (Power Query)</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61872"/>
            <a:ext cx="4114800" cy="1078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261872"/>
            <a:ext cx="502920" cy="1078992"/>
          </a:xfrm>
          <a:prstGeom prst="rect">
            <a:avLst/>
          </a:prstGeom>
          <a:solidFill>
            <a:srgbClr val="8B0000"/>
          </a:solidFill>
          <a:ln w="12700">
            <a:solidFill>
              <a:srgbClr val="8B0000"/>
            </a:solidFill>
            <a:prstDash val="solid"/>
          </a:ln>
        </p:spPr>
      </p:sp>
      <p:sp>
        <p:nvSpPr>
          <p:cNvPr id="7" name="Text 5"/>
          <p:cNvSpPr/>
          <p:nvPr/>
        </p:nvSpPr>
        <p:spPr>
          <a:xfrm>
            <a:off x="457200" y="1261872"/>
            <a:ext cx="502920" cy="107899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01</a:t>
            </a:r>
            <a:endParaRPr lang="en-US" sz="2000" dirty="0"/>
          </a:p>
        </p:txBody>
      </p:sp>
      <p:sp>
        <p:nvSpPr>
          <p:cNvPr id="8" name="Text 6"/>
          <p:cNvSpPr/>
          <p:nvPr/>
        </p:nvSpPr>
        <p:spPr>
          <a:xfrm>
            <a:off x="1051560" y="1353312"/>
            <a:ext cx="3429000" cy="292608"/>
          </a:xfrm>
          <a:prstGeom prst="rect">
            <a:avLst/>
          </a:prstGeom>
          <a:noFill/>
          <a:ln/>
        </p:spPr>
        <p:txBody>
          <a:bodyPr wrap="square" rtlCol="0" anchor="ctr"/>
          <a:lstStyle/>
          <a:p>
            <a:pPr indent="0" marL="0">
              <a:buNone/>
            </a:pPr>
            <a:r>
              <a:rPr lang="en-US" sz="1150" b="1" dirty="0">
                <a:solidFill>
                  <a:srgbClr val="8B0000"/>
                </a:solidFill>
                <a:latin typeface="Calibri" pitchFamily="34" charset="0"/>
                <a:ea typeface="Calibri" pitchFamily="34" charset="-122"/>
                <a:cs typeface="Calibri" pitchFamily="34" charset="-120"/>
              </a:rPr>
              <a:t>Remove Nulls &amp; Blanks</a:t>
            </a:r>
            <a:endParaRPr lang="en-US" sz="1150" dirty="0"/>
          </a:p>
        </p:txBody>
      </p:sp>
      <p:sp>
        <p:nvSpPr>
          <p:cNvPr id="9" name="Text 7"/>
          <p:cNvSpPr/>
          <p:nvPr/>
        </p:nvSpPr>
        <p:spPr>
          <a:xfrm>
            <a:off x="1051560" y="1645920"/>
            <a:ext cx="3429000" cy="64008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Filter out rows where Country, Year, or Deaths fields are null. Drop header/footer metadata rows from raw UN export.</a:t>
            </a:r>
            <a:endParaRPr lang="en-US" sz="950" dirty="0"/>
          </a:p>
        </p:txBody>
      </p:sp>
      <p:sp>
        <p:nvSpPr>
          <p:cNvPr id="10" name="Shape 8"/>
          <p:cNvSpPr/>
          <p:nvPr/>
        </p:nvSpPr>
        <p:spPr>
          <a:xfrm>
            <a:off x="457200" y="2496312"/>
            <a:ext cx="4114800" cy="1078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57200" y="2496312"/>
            <a:ext cx="502920" cy="1078992"/>
          </a:xfrm>
          <a:prstGeom prst="rect">
            <a:avLst/>
          </a:prstGeom>
          <a:solidFill>
            <a:srgbClr val="8B0000"/>
          </a:solidFill>
          <a:ln w="12700">
            <a:solidFill>
              <a:srgbClr val="8B0000"/>
            </a:solidFill>
            <a:prstDash val="solid"/>
          </a:ln>
        </p:spPr>
      </p:sp>
      <p:sp>
        <p:nvSpPr>
          <p:cNvPr id="12" name="Text 10"/>
          <p:cNvSpPr/>
          <p:nvPr/>
        </p:nvSpPr>
        <p:spPr>
          <a:xfrm>
            <a:off x="457200" y="2496312"/>
            <a:ext cx="502920" cy="107899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02</a:t>
            </a:r>
            <a:endParaRPr lang="en-US" sz="2000" dirty="0"/>
          </a:p>
        </p:txBody>
      </p:sp>
      <p:sp>
        <p:nvSpPr>
          <p:cNvPr id="13" name="Text 11"/>
          <p:cNvSpPr/>
          <p:nvPr/>
        </p:nvSpPr>
        <p:spPr>
          <a:xfrm>
            <a:off x="1051560" y="2587752"/>
            <a:ext cx="3429000" cy="292608"/>
          </a:xfrm>
          <a:prstGeom prst="rect">
            <a:avLst/>
          </a:prstGeom>
          <a:noFill/>
          <a:ln/>
        </p:spPr>
        <p:txBody>
          <a:bodyPr wrap="square" rtlCol="0" anchor="ctr"/>
          <a:lstStyle/>
          <a:p>
            <a:pPr indent="0" marL="0">
              <a:buNone/>
            </a:pPr>
            <a:r>
              <a:rPr lang="en-US" sz="1150" b="1" dirty="0">
                <a:solidFill>
                  <a:srgbClr val="8B0000"/>
                </a:solidFill>
                <a:latin typeface="Calibri" pitchFamily="34" charset="0"/>
                <a:ea typeface="Calibri" pitchFamily="34" charset="-122"/>
                <a:cs typeface="Calibri" pitchFamily="34" charset="-120"/>
              </a:rPr>
              <a:t>Standardize Country Names</a:t>
            </a:r>
            <a:endParaRPr lang="en-US" sz="1150" dirty="0"/>
          </a:p>
        </p:txBody>
      </p:sp>
      <p:sp>
        <p:nvSpPr>
          <p:cNvPr id="14" name="Text 12"/>
          <p:cNvSpPr/>
          <p:nvPr/>
        </p:nvSpPr>
        <p:spPr>
          <a:xfrm>
            <a:off x="1051560" y="2880360"/>
            <a:ext cx="3429000" cy="64008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Normalize name variants (e.g. 'United States' → 'USA', 'Russian Federation' → 'Russia') using a reference lookup table.</a:t>
            </a:r>
            <a:endParaRPr lang="en-US" sz="950" dirty="0"/>
          </a:p>
        </p:txBody>
      </p:sp>
      <p:sp>
        <p:nvSpPr>
          <p:cNvPr id="15" name="Shape 13"/>
          <p:cNvSpPr/>
          <p:nvPr/>
        </p:nvSpPr>
        <p:spPr>
          <a:xfrm>
            <a:off x="457200" y="3730752"/>
            <a:ext cx="4114800" cy="1078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57200" y="3730752"/>
            <a:ext cx="502920" cy="1078992"/>
          </a:xfrm>
          <a:prstGeom prst="rect">
            <a:avLst/>
          </a:prstGeom>
          <a:solidFill>
            <a:srgbClr val="8B0000"/>
          </a:solidFill>
          <a:ln w="12700">
            <a:solidFill>
              <a:srgbClr val="8B0000"/>
            </a:solidFill>
            <a:prstDash val="solid"/>
          </a:ln>
        </p:spPr>
      </p:sp>
      <p:sp>
        <p:nvSpPr>
          <p:cNvPr id="17" name="Text 15"/>
          <p:cNvSpPr/>
          <p:nvPr/>
        </p:nvSpPr>
        <p:spPr>
          <a:xfrm>
            <a:off x="457200" y="3730752"/>
            <a:ext cx="502920" cy="107899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03</a:t>
            </a:r>
            <a:endParaRPr lang="en-US" sz="2000" dirty="0"/>
          </a:p>
        </p:txBody>
      </p:sp>
      <p:sp>
        <p:nvSpPr>
          <p:cNvPr id="18" name="Text 16"/>
          <p:cNvSpPr/>
          <p:nvPr/>
        </p:nvSpPr>
        <p:spPr>
          <a:xfrm>
            <a:off x="1051560" y="3822192"/>
            <a:ext cx="3429000" cy="292608"/>
          </a:xfrm>
          <a:prstGeom prst="rect">
            <a:avLst/>
          </a:prstGeom>
          <a:noFill/>
          <a:ln/>
        </p:spPr>
        <p:txBody>
          <a:bodyPr wrap="square" rtlCol="0" anchor="ctr"/>
          <a:lstStyle/>
          <a:p>
            <a:pPr indent="0" marL="0">
              <a:buNone/>
            </a:pPr>
            <a:r>
              <a:rPr lang="en-US" sz="1150" b="1" dirty="0">
                <a:solidFill>
                  <a:srgbClr val="8B0000"/>
                </a:solidFill>
                <a:latin typeface="Calibri" pitchFamily="34" charset="0"/>
                <a:ea typeface="Calibri" pitchFamily="34" charset="-122"/>
                <a:cs typeface="Calibri" pitchFamily="34" charset="-120"/>
              </a:rPr>
              <a:t>Map ISO Codes &amp; Continent</a:t>
            </a:r>
            <a:endParaRPr lang="en-US" sz="1150" dirty="0"/>
          </a:p>
        </p:txBody>
      </p:sp>
      <p:sp>
        <p:nvSpPr>
          <p:cNvPr id="19" name="Text 17"/>
          <p:cNvSpPr/>
          <p:nvPr/>
        </p:nvSpPr>
        <p:spPr>
          <a:xfrm>
            <a:off x="1051560" y="4114800"/>
            <a:ext cx="3429000" cy="64008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Merge with ISO3 country code table. Assign each country to a continent using a custom DimCountry mapping table.</a:t>
            </a:r>
            <a:endParaRPr lang="en-US" sz="950" dirty="0"/>
          </a:p>
        </p:txBody>
      </p:sp>
      <p:sp>
        <p:nvSpPr>
          <p:cNvPr id="20" name="Shape 18"/>
          <p:cNvSpPr/>
          <p:nvPr/>
        </p:nvSpPr>
        <p:spPr>
          <a:xfrm>
            <a:off x="4892040" y="1261872"/>
            <a:ext cx="4114800" cy="1078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892040" y="1261872"/>
            <a:ext cx="502920" cy="1078992"/>
          </a:xfrm>
          <a:prstGeom prst="rect">
            <a:avLst/>
          </a:prstGeom>
          <a:solidFill>
            <a:srgbClr val="8B0000"/>
          </a:solidFill>
          <a:ln w="12700">
            <a:solidFill>
              <a:srgbClr val="8B0000"/>
            </a:solidFill>
            <a:prstDash val="solid"/>
          </a:ln>
        </p:spPr>
      </p:sp>
      <p:sp>
        <p:nvSpPr>
          <p:cNvPr id="22" name="Text 20"/>
          <p:cNvSpPr/>
          <p:nvPr/>
        </p:nvSpPr>
        <p:spPr>
          <a:xfrm>
            <a:off x="4892040" y="1261872"/>
            <a:ext cx="502920" cy="107899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04</a:t>
            </a:r>
            <a:endParaRPr lang="en-US" sz="2000" dirty="0"/>
          </a:p>
        </p:txBody>
      </p:sp>
      <p:sp>
        <p:nvSpPr>
          <p:cNvPr id="23" name="Text 21"/>
          <p:cNvSpPr/>
          <p:nvPr/>
        </p:nvSpPr>
        <p:spPr>
          <a:xfrm>
            <a:off x="5486400" y="1353312"/>
            <a:ext cx="3429000" cy="292608"/>
          </a:xfrm>
          <a:prstGeom prst="rect">
            <a:avLst/>
          </a:prstGeom>
          <a:noFill/>
          <a:ln/>
        </p:spPr>
        <p:txBody>
          <a:bodyPr wrap="square" rtlCol="0" anchor="ctr"/>
          <a:lstStyle/>
          <a:p>
            <a:pPr indent="0" marL="0">
              <a:buNone/>
            </a:pPr>
            <a:r>
              <a:rPr lang="en-US" sz="1150" b="1" dirty="0">
                <a:solidFill>
                  <a:srgbClr val="8B0000"/>
                </a:solidFill>
                <a:latin typeface="Calibri" pitchFamily="34" charset="0"/>
                <a:ea typeface="Calibri" pitchFamily="34" charset="-122"/>
                <a:cs typeface="Calibri" pitchFamily="34" charset="-120"/>
              </a:rPr>
              <a:t>Aggregate by Year / Country / Cause</a:t>
            </a:r>
            <a:endParaRPr lang="en-US" sz="1150" dirty="0"/>
          </a:p>
        </p:txBody>
      </p:sp>
      <p:sp>
        <p:nvSpPr>
          <p:cNvPr id="24" name="Text 22"/>
          <p:cNvSpPr/>
          <p:nvPr/>
        </p:nvSpPr>
        <p:spPr>
          <a:xfrm>
            <a:off x="5486400" y="1645920"/>
            <a:ext cx="3429000" cy="64008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Group by [Year, Country, Cause] and sum Deaths. Remove individual-age breakdowns to create the analytical grain.</a:t>
            </a:r>
            <a:endParaRPr lang="en-US" sz="950" dirty="0"/>
          </a:p>
        </p:txBody>
      </p:sp>
      <p:sp>
        <p:nvSpPr>
          <p:cNvPr id="25" name="Shape 23"/>
          <p:cNvSpPr/>
          <p:nvPr/>
        </p:nvSpPr>
        <p:spPr>
          <a:xfrm>
            <a:off x="4892040" y="2496312"/>
            <a:ext cx="4114800" cy="1078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892040" y="2496312"/>
            <a:ext cx="502920" cy="1078992"/>
          </a:xfrm>
          <a:prstGeom prst="rect">
            <a:avLst/>
          </a:prstGeom>
          <a:solidFill>
            <a:srgbClr val="E85A5A"/>
          </a:solidFill>
          <a:ln w="12700">
            <a:solidFill>
              <a:srgbClr val="8B0000"/>
            </a:solidFill>
            <a:prstDash val="solid"/>
          </a:ln>
        </p:spPr>
      </p:sp>
      <p:sp>
        <p:nvSpPr>
          <p:cNvPr id="27" name="Text 25"/>
          <p:cNvSpPr/>
          <p:nvPr/>
        </p:nvSpPr>
        <p:spPr>
          <a:xfrm>
            <a:off x="4892040" y="2496312"/>
            <a:ext cx="502920" cy="107899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05</a:t>
            </a:r>
            <a:endParaRPr lang="en-US" sz="2000" dirty="0"/>
          </a:p>
        </p:txBody>
      </p:sp>
      <p:sp>
        <p:nvSpPr>
          <p:cNvPr id="28" name="Text 26"/>
          <p:cNvSpPr/>
          <p:nvPr/>
        </p:nvSpPr>
        <p:spPr>
          <a:xfrm>
            <a:off x="5486400" y="2587752"/>
            <a:ext cx="3429000" cy="292608"/>
          </a:xfrm>
          <a:prstGeom prst="rect">
            <a:avLst/>
          </a:prstGeom>
          <a:noFill/>
          <a:ln/>
        </p:spPr>
        <p:txBody>
          <a:bodyPr wrap="square" rtlCol="0" anchor="ctr"/>
          <a:lstStyle/>
          <a:p>
            <a:pPr indent="0" marL="0">
              <a:buNone/>
            </a:pPr>
            <a:r>
              <a:rPr lang="en-US" sz="1150" b="1" dirty="0">
                <a:solidFill>
                  <a:srgbClr val="8B0000"/>
                </a:solidFill>
                <a:latin typeface="Calibri" pitchFamily="34" charset="0"/>
                <a:ea typeface="Calibri" pitchFamily="34" charset="-122"/>
                <a:cs typeface="Calibri" pitchFamily="34" charset="-120"/>
              </a:rPr>
              <a:t>Compute Rolling Averages</a:t>
            </a:r>
            <a:endParaRPr lang="en-US" sz="1150" dirty="0"/>
          </a:p>
        </p:txBody>
      </p:sp>
      <p:sp>
        <p:nvSpPr>
          <p:cNvPr id="29" name="Text 27"/>
          <p:cNvSpPr/>
          <p:nvPr/>
        </p:nvSpPr>
        <p:spPr>
          <a:xfrm>
            <a:off x="5486400" y="2880360"/>
            <a:ext cx="3429000" cy="64008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Add 3-year rolling average column using List.Average() over a window of prior year values for smoother trend lines.</a:t>
            </a:r>
            <a:endParaRPr lang="en-US" sz="950" dirty="0"/>
          </a:p>
        </p:txBody>
      </p:sp>
      <p:sp>
        <p:nvSpPr>
          <p:cNvPr id="30" name="Shape 28"/>
          <p:cNvSpPr/>
          <p:nvPr/>
        </p:nvSpPr>
        <p:spPr>
          <a:xfrm>
            <a:off x="4892040" y="3730752"/>
            <a:ext cx="4114800" cy="1078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892040" y="3730752"/>
            <a:ext cx="502920" cy="1078992"/>
          </a:xfrm>
          <a:prstGeom prst="rect">
            <a:avLst/>
          </a:prstGeom>
          <a:solidFill>
            <a:srgbClr val="E85A5A"/>
          </a:solidFill>
          <a:ln w="12700">
            <a:solidFill>
              <a:srgbClr val="8B0000"/>
            </a:solidFill>
            <a:prstDash val="solid"/>
          </a:ln>
        </p:spPr>
      </p:sp>
      <p:sp>
        <p:nvSpPr>
          <p:cNvPr id="32" name="Text 30"/>
          <p:cNvSpPr/>
          <p:nvPr/>
        </p:nvSpPr>
        <p:spPr>
          <a:xfrm>
            <a:off x="4892040" y="3730752"/>
            <a:ext cx="502920" cy="107899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06</a:t>
            </a:r>
            <a:endParaRPr lang="en-US" sz="2000" dirty="0"/>
          </a:p>
        </p:txBody>
      </p:sp>
      <p:sp>
        <p:nvSpPr>
          <p:cNvPr id="33" name="Text 31"/>
          <p:cNvSpPr/>
          <p:nvPr/>
        </p:nvSpPr>
        <p:spPr>
          <a:xfrm>
            <a:off x="5486400" y="3822192"/>
            <a:ext cx="3429000" cy="292608"/>
          </a:xfrm>
          <a:prstGeom prst="rect">
            <a:avLst/>
          </a:prstGeom>
          <a:noFill/>
          <a:ln/>
        </p:spPr>
        <p:txBody>
          <a:bodyPr wrap="square" rtlCol="0" anchor="ctr"/>
          <a:lstStyle/>
          <a:p>
            <a:pPr indent="0" marL="0">
              <a:buNone/>
            </a:pPr>
            <a:r>
              <a:rPr lang="en-US" sz="1150" b="1" dirty="0">
                <a:solidFill>
                  <a:srgbClr val="8B0000"/>
                </a:solidFill>
                <a:latin typeface="Calibri" pitchFamily="34" charset="0"/>
                <a:ea typeface="Calibri" pitchFamily="34" charset="-122"/>
                <a:cs typeface="Calibri" pitchFamily="34" charset="-120"/>
              </a:rPr>
              <a:t>Validate &amp; Quality Check</a:t>
            </a:r>
            <a:endParaRPr lang="en-US" sz="1150" dirty="0"/>
          </a:p>
        </p:txBody>
      </p:sp>
      <p:sp>
        <p:nvSpPr>
          <p:cNvPr id="34" name="Text 32"/>
          <p:cNvSpPr/>
          <p:nvPr/>
        </p:nvSpPr>
        <p:spPr>
          <a:xfrm>
            <a:off x="5486400" y="4114800"/>
            <a:ext cx="3429000" cy="64008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Cross-check world totals against UN WPP published figures. Flag any country/year with &gt;30% deviation for manual review.</a:t>
            </a:r>
            <a:endParaRPr lang="en-US" sz="950" dirty="0"/>
          </a:p>
        </p:txBody>
      </p:sp>
      <p:sp>
        <p:nvSpPr>
          <p:cNvPr id="35" name="Shape 33"/>
          <p:cNvSpPr/>
          <p:nvPr/>
        </p:nvSpPr>
        <p:spPr>
          <a:xfrm>
            <a:off x="457200" y="4681728"/>
            <a:ext cx="8229600" cy="292608"/>
          </a:xfrm>
          <a:prstGeom prst="rect">
            <a:avLst/>
          </a:prstGeom>
          <a:solidFill>
            <a:srgbClr val="FFDDE0"/>
          </a:solidFill>
          <a:ln w="12700">
            <a:solidFill>
              <a:srgbClr val="FFDDE0"/>
            </a:solidFill>
            <a:prstDash val="solid"/>
          </a:ln>
        </p:spPr>
      </p:sp>
      <p:sp>
        <p:nvSpPr>
          <p:cNvPr id="36" name="Text 34"/>
          <p:cNvSpPr/>
          <p:nvPr/>
        </p:nvSpPr>
        <p:spPr>
          <a:xfrm>
            <a:off x="594360" y="4709160"/>
            <a:ext cx="7955280" cy="237744"/>
          </a:xfrm>
          <a:prstGeom prst="rect">
            <a:avLst/>
          </a:prstGeom>
          <a:noFill/>
          <a:ln/>
        </p:spPr>
        <p:txBody>
          <a:bodyPr wrap="square" rtlCol="0" anchor="ctr"/>
          <a:lstStyle/>
          <a:p>
            <a:pPr indent="0" marL="0">
              <a:buNone/>
            </a:pPr>
            <a:r>
              <a:rPr lang="en-US" sz="900" i="1" dirty="0">
                <a:solidFill>
                  <a:srgbClr val="222222"/>
                </a:solidFill>
                <a:latin typeface="Calibri" pitchFamily="34" charset="0"/>
                <a:ea typeface="Calibri" pitchFamily="34" charset="-122"/>
                <a:cs typeface="Calibri" pitchFamily="34" charset="-120"/>
              </a:rPr>
              <a:t>All transformations performed in Power Query (Get &amp; Transform). Refresh time: ~45 seconds on full 7,000-row dataset.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ARCHITECTURE</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Data Model &amp; Relationships</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3200400" y="1737360"/>
            <a:ext cx="2743200" cy="2286000"/>
          </a:xfrm>
          <a:prstGeom prst="rect">
            <a:avLst/>
          </a:prstGeom>
          <a:solidFill>
            <a:srgbClr val="8B0000"/>
          </a:solidFill>
          <a:ln w="12700">
            <a:solidFill>
              <a:srgbClr val="8B0000"/>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3200400" y="1847088"/>
            <a:ext cx="2743200" cy="292608"/>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FactDeaths</a:t>
            </a:r>
            <a:endParaRPr lang="en-US" sz="1300" dirty="0"/>
          </a:p>
        </p:txBody>
      </p:sp>
      <p:sp>
        <p:nvSpPr>
          <p:cNvPr id="7" name="Shape 5"/>
          <p:cNvSpPr/>
          <p:nvPr/>
        </p:nvSpPr>
        <p:spPr>
          <a:xfrm>
            <a:off x="3200400" y="2139696"/>
            <a:ext cx="2743200" cy="18288"/>
          </a:xfrm>
          <a:prstGeom prst="rect">
            <a:avLst/>
          </a:prstGeom>
          <a:solidFill>
            <a:srgbClr val="FFDDE0"/>
          </a:solidFill>
          <a:ln w="12700">
            <a:solidFill>
              <a:srgbClr val="FFDDE0"/>
            </a:solidFill>
            <a:prstDash val="solid"/>
          </a:ln>
        </p:spPr>
      </p:sp>
      <p:sp>
        <p:nvSpPr>
          <p:cNvPr id="8" name="Text 6"/>
          <p:cNvSpPr/>
          <p:nvPr/>
        </p:nvSpPr>
        <p:spPr>
          <a:xfrm>
            <a:off x="3337560" y="2240280"/>
            <a:ext cx="2468880" cy="256032"/>
          </a:xfrm>
          <a:prstGeom prst="rect">
            <a:avLst/>
          </a:prstGeom>
          <a:noFill/>
          <a:ln/>
        </p:spPr>
        <p:txBody>
          <a:bodyPr wrap="square" rtlCol="0" anchor="ctr"/>
          <a:lstStyle/>
          <a:p>
            <a:pPr indent="0" marL="0">
              <a:buNone/>
            </a:pPr>
            <a:r>
              <a:rPr lang="en-US" sz="1000" dirty="0">
                <a:solidFill>
                  <a:srgbClr val="FFDDE0"/>
                </a:solidFill>
                <a:latin typeface="Calibri" pitchFamily="34" charset="0"/>
                <a:ea typeface="Calibri" pitchFamily="34" charset="-122"/>
                <a:cs typeface="Calibri" pitchFamily="34" charset="-120"/>
              </a:rPr>
              <a:t>🔑 CountryID (FK)</a:t>
            </a:r>
            <a:endParaRPr lang="en-US" sz="1000" dirty="0"/>
          </a:p>
        </p:txBody>
      </p:sp>
      <p:sp>
        <p:nvSpPr>
          <p:cNvPr id="9" name="Text 7"/>
          <p:cNvSpPr/>
          <p:nvPr/>
        </p:nvSpPr>
        <p:spPr>
          <a:xfrm>
            <a:off x="3337560" y="2514600"/>
            <a:ext cx="2468880" cy="256032"/>
          </a:xfrm>
          <a:prstGeom prst="rect">
            <a:avLst/>
          </a:prstGeom>
          <a:noFill/>
          <a:ln/>
        </p:spPr>
        <p:txBody>
          <a:bodyPr wrap="square" rtlCol="0" anchor="ctr"/>
          <a:lstStyle/>
          <a:p>
            <a:pPr indent="0" marL="0">
              <a:buNone/>
            </a:pPr>
            <a:r>
              <a:rPr lang="en-US" sz="1000" dirty="0">
                <a:solidFill>
                  <a:srgbClr val="FFDDE0"/>
                </a:solidFill>
                <a:latin typeface="Calibri" pitchFamily="34" charset="0"/>
                <a:ea typeface="Calibri" pitchFamily="34" charset="-122"/>
                <a:cs typeface="Calibri" pitchFamily="34" charset="-120"/>
              </a:rPr>
              <a:t>🔑 CauseID (FK)</a:t>
            </a:r>
            <a:endParaRPr lang="en-US" sz="1000" dirty="0"/>
          </a:p>
        </p:txBody>
      </p:sp>
      <p:sp>
        <p:nvSpPr>
          <p:cNvPr id="10" name="Text 8"/>
          <p:cNvSpPr/>
          <p:nvPr/>
        </p:nvSpPr>
        <p:spPr>
          <a:xfrm>
            <a:off x="3337560" y="2788920"/>
            <a:ext cx="2468880" cy="256032"/>
          </a:xfrm>
          <a:prstGeom prst="rect">
            <a:avLst/>
          </a:prstGeom>
          <a:noFill/>
          <a:ln/>
        </p:spPr>
        <p:txBody>
          <a:bodyPr wrap="square" rtlCol="0" anchor="ctr"/>
          <a:lstStyle/>
          <a:p>
            <a:pPr indent="0" marL="0">
              <a:buNone/>
            </a:pPr>
            <a:r>
              <a:rPr lang="en-US" sz="1000" dirty="0">
                <a:solidFill>
                  <a:srgbClr val="FFDDE0"/>
                </a:solidFill>
                <a:latin typeface="Calibri" pitchFamily="34" charset="0"/>
                <a:ea typeface="Calibri" pitchFamily="34" charset="-122"/>
                <a:cs typeface="Calibri" pitchFamily="34" charset="-120"/>
              </a:rPr>
              <a:t>🔑 DateID (FK)</a:t>
            </a:r>
            <a:endParaRPr lang="en-US" sz="1000" dirty="0"/>
          </a:p>
        </p:txBody>
      </p:sp>
      <p:sp>
        <p:nvSpPr>
          <p:cNvPr id="11" name="Text 9"/>
          <p:cNvSpPr/>
          <p:nvPr/>
        </p:nvSpPr>
        <p:spPr>
          <a:xfrm>
            <a:off x="3337560" y="3063240"/>
            <a:ext cx="2468880" cy="256032"/>
          </a:xfrm>
          <a:prstGeom prst="rect">
            <a:avLst/>
          </a:prstGeom>
          <a:noFill/>
          <a:ln/>
        </p:spPr>
        <p:txBody>
          <a:bodyPr wrap="square" rtlCol="0" anchor="ctr"/>
          <a:lstStyle/>
          <a:p>
            <a:pPr indent="0" marL="0">
              <a:buNone/>
            </a:pPr>
            <a:r>
              <a:rPr lang="en-US" sz="1000" dirty="0">
                <a:solidFill>
                  <a:srgbClr val="FFD0D0"/>
                </a:solidFill>
                <a:latin typeface="Calibri" pitchFamily="34" charset="0"/>
                <a:ea typeface="Calibri" pitchFamily="34" charset="-122"/>
                <a:cs typeface="Calibri" pitchFamily="34" charset="-120"/>
              </a:rPr>
              <a:t>Deaths (Measure)</a:t>
            </a:r>
            <a:endParaRPr lang="en-US" sz="1000" dirty="0"/>
          </a:p>
        </p:txBody>
      </p:sp>
      <p:sp>
        <p:nvSpPr>
          <p:cNvPr id="12" name="Text 10"/>
          <p:cNvSpPr/>
          <p:nvPr/>
        </p:nvSpPr>
        <p:spPr>
          <a:xfrm>
            <a:off x="3337560" y="3337560"/>
            <a:ext cx="2468880" cy="256032"/>
          </a:xfrm>
          <a:prstGeom prst="rect">
            <a:avLst/>
          </a:prstGeom>
          <a:noFill/>
          <a:ln/>
        </p:spPr>
        <p:txBody>
          <a:bodyPr wrap="square" rtlCol="0" anchor="ctr"/>
          <a:lstStyle/>
          <a:p>
            <a:pPr indent="0" marL="0">
              <a:buNone/>
            </a:pPr>
            <a:r>
              <a:rPr lang="en-US" sz="1000" dirty="0">
                <a:solidFill>
                  <a:srgbClr val="FFD0D0"/>
                </a:solidFill>
                <a:latin typeface="Calibri" pitchFamily="34" charset="0"/>
                <a:ea typeface="Calibri" pitchFamily="34" charset="-122"/>
                <a:cs typeface="Calibri" pitchFamily="34" charset="-120"/>
              </a:rPr>
              <a:t>AvgDeaths</a:t>
            </a:r>
            <a:endParaRPr lang="en-US" sz="1000" dirty="0"/>
          </a:p>
        </p:txBody>
      </p:sp>
      <p:sp>
        <p:nvSpPr>
          <p:cNvPr id="13" name="Text 11"/>
          <p:cNvSpPr/>
          <p:nvPr/>
        </p:nvSpPr>
        <p:spPr>
          <a:xfrm>
            <a:off x="3337560" y="3611880"/>
            <a:ext cx="2468880" cy="256032"/>
          </a:xfrm>
          <a:prstGeom prst="rect">
            <a:avLst/>
          </a:prstGeom>
          <a:noFill/>
          <a:ln/>
        </p:spPr>
        <p:txBody>
          <a:bodyPr wrap="square" rtlCol="0" anchor="ctr"/>
          <a:lstStyle/>
          <a:p>
            <a:pPr indent="0" marL="0">
              <a:buNone/>
            </a:pPr>
            <a:r>
              <a:rPr lang="en-US" sz="1000" dirty="0">
                <a:solidFill>
                  <a:srgbClr val="FFD0D0"/>
                </a:solidFill>
                <a:latin typeface="Calibri" pitchFamily="34" charset="0"/>
                <a:ea typeface="Calibri" pitchFamily="34" charset="-122"/>
                <a:cs typeface="Calibri" pitchFamily="34" charset="-120"/>
              </a:rPr>
              <a:t>PctOfWorld</a:t>
            </a:r>
            <a:endParaRPr lang="en-US" sz="1000" dirty="0"/>
          </a:p>
        </p:txBody>
      </p:sp>
      <p:sp>
        <p:nvSpPr>
          <p:cNvPr id="14" name="Shape 12"/>
          <p:cNvSpPr/>
          <p:nvPr/>
        </p:nvSpPr>
        <p:spPr>
          <a:xfrm>
            <a:off x="274320" y="1920240"/>
            <a:ext cx="2560320" cy="1737360"/>
          </a:xfrm>
          <a:prstGeom prst="rect">
            <a:avLst/>
          </a:prstGeom>
          <a:solidFill>
            <a:srgbClr val="FFDDE0"/>
          </a:solidFill>
          <a:ln w="15240">
            <a:solidFill>
              <a:srgbClr val="E85A5A"/>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74320" y="1920240"/>
            <a:ext cx="2560320" cy="347472"/>
          </a:xfrm>
          <a:prstGeom prst="rect">
            <a:avLst/>
          </a:prstGeom>
          <a:solidFill>
            <a:srgbClr val="E85A5A"/>
          </a:solidFill>
          <a:ln w="12700">
            <a:solidFill>
              <a:srgbClr val="E85A5A"/>
            </a:solidFill>
            <a:prstDash val="solid"/>
          </a:ln>
        </p:spPr>
      </p:sp>
      <p:sp>
        <p:nvSpPr>
          <p:cNvPr id="16" name="Text 14"/>
          <p:cNvSpPr/>
          <p:nvPr/>
        </p:nvSpPr>
        <p:spPr>
          <a:xfrm>
            <a:off x="274320" y="1965960"/>
            <a:ext cx="2560320" cy="27432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DimCountry</a:t>
            </a:r>
            <a:endParaRPr lang="en-US" sz="1100" dirty="0"/>
          </a:p>
        </p:txBody>
      </p:sp>
      <p:sp>
        <p:nvSpPr>
          <p:cNvPr id="17" name="Text 15"/>
          <p:cNvSpPr/>
          <p:nvPr/>
        </p:nvSpPr>
        <p:spPr>
          <a:xfrm>
            <a:off x="384048" y="2331720"/>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 CountryID (PK)</a:t>
            </a:r>
            <a:endParaRPr lang="en-US" sz="950" dirty="0"/>
          </a:p>
        </p:txBody>
      </p:sp>
      <p:sp>
        <p:nvSpPr>
          <p:cNvPr id="18" name="Text 16"/>
          <p:cNvSpPr/>
          <p:nvPr/>
        </p:nvSpPr>
        <p:spPr>
          <a:xfrm>
            <a:off x="384048" y="2578608"/>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CountryName</a:t>
            </a:r>
            <a:endParaRPr lang="en-US" sz="950" dirty="0"/>
          </a:p>
        </p:txBody>
      </p:sp>
      <p:sp>
        <p:nvSpPr>
          <p:cNvPr id="19" name="Text 17"/>
          <p:cNvSpPr/>
          <p:nvPr/>
        </p:nvSpPr>
        <p:spPr>
          <a:xfrm>
            <a:off x="384048" y="2825496"/>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ISO3Code</a:t>
            </a:r>
            <a:endParaRPr lang="en-US" sz="950" dirty="0"/>
          </a:p>
        </p:txBody>
      </p:sp>
      <p:sp>
        <p:nvSpPr>
          <p:cNvPr id="20" name="Text 18"/>
          <p:cNvSpPr/>
          <p:nvPr/>
        </p:nvSpPr>
        <p:spPr>
          <a:xfrm>
            <a:off x="384048" y="3072384"/>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Continent</a:t>
            </a:r>
            <a:endParaRPr lang="en-US" sz="950" dirty="0"/>
          </a:p>
        </p:txBody>
      </p:sp>
      <p:sp>
        <p:nvSpPr>
          <p:cNvPr id="21" name="Text 19"/>
          <p:cNvSpPr/>
          <p:nvPr/>
        </p:nvSpPr>
        <p:spPr>
          <a:xfrm>
            <a:off x="384048" y="3319272"/>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Region</a:t>
            </a:r>
            <a:endParaRPr lang="en-US" sz="950" dirty="0"/>
          </a:p>
        </p:txBody>
      </p:sp>
      <p:sp>
        <p:nvSpPr>
          <p:cNvPr id="22" name="Shape 20"/>
          <p:cNvSpPr/>
          <p:nvPr/>
        </p:nvSpPr>
        <p:spPr>
          <a:xfrm>
            <a:off x="6126480" y="1920240"/>
            <a:ext cx="2560320" cy="1737360"/>
          </a:xfrm>
          <a:prstGeom prst="rect">
            <a:avLst/>
          </a:prstGeom>
          <a:solidFill>
            <a:srgbClr val="FFDDE0"/>
          </a:solidFill>
          <a:ln w="15240">
            <a:solidFill>
              <a:srgbClr val="E85A5A"/>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126480" y="1920240"/>
            <a:ext cx="2560320" cy="347472"/>
          </a:xfrm>
          <a:prstGeom prst="rect">
            <a:avLst/>
          </a:prstGeom>
          <a:solidFill>
            <a:srgbClr val="E85A5A"/>
          </a:solidFill>
          <a:ln w="12700">
            <a:solidFill>
              <a:srgbClr val="E85A5A"/>
            </a:solidFill>
            <a:prstDash val="solid"/>
          </a:ln>
        </p:spPr>
      </p:sp>
      <p:sp>
        <p:nvSpPr>
          <p:cNvPr id="24" name="Text 22"/>
          <p:cNvSpPr/>
          <p:nvPr/>
        </p:nvSpPr>
        <p:spPr>
          <a:xfrm>
            <a:off x="6126480" y="1965960"/>
            <a:ext cx="2560320" cy="27432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DimCause</a:t>
            </a:r>
            <a:endParaRPr lang="en-US" sz="1100" dirty="0"/>
          </a:p>
        </p:txBody>
      </p:sp>
      <p:sp>
        <p:nvSpPr>
          <p:cNvPr id="25" name="Text 23"/>
          <p:cNvSpPr/>
          <p:nvPr/>
        </p:nvSpPr>
        <p:spPr>
          <a:xfrm>
            <a:off x="6236208" y="2331720"/>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 CauseID (PK)</a:t>
            </a:r>
            <a:endParaRPr lang="en-US" sz="950" dirty="0"/>
          </a:p>
        </p:txBody>
      </p:sp>
      <p:sp>
        <p:nvSpPr>
          <p:cNvPr id="26" name="Text 24"/>
          <p:cNvSpPr/>
          <p:nvPr/>
        </p:nvSpPr>
        <p:spPr>
          <a:xfrm>
            <a:off x="6236208" y="2578608"/>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CauseName</a:t>
            </a:r>
            <a:endParaRPr lang="en-US" sz="950" dirty="0"/>
          </a:p>
        </p:txBody>
      </p:sp>
      <p:sp>
        <p:nvSpPr>
          <p:cNvPr id="27" name="Text 25"/>
          <p:cNvSpPr/>
          <p:nvPr/>
        </p:nvSpPr>
        <p:spPr>
          <a:xfrm>
            <a:off x="6236208" y="2825496"/>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CauseGroup</a:t>
            </a:r>
            <a:endParaRPr lang="en-US" sz="950" dirty="0"/>
          </a:p>
        </p:txBody>
      </p:sp>
      <p:sp>
        <p:nvSpPr>
          <p:cNvPr id="28" name="Text 26"/>
          <p:cNvSpPr/>
          <p:nvPr/>
        </p:nvSpPr>
        <p:spPr>
          <a:xfrm>
            <a:off x="6236208" y="3072384"/>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WHO Category</a:t>
            </a:r>
            <a:endParaRPr lang="en-US" sz="950" dirty="0"/>
          </a:p>
        </p:txBody>
      </p:sp>
      <p:sp>
        <p:nvSpPr>
          <p:cNvPr id="29" name="Shape 27"/>
          <p:cNvSpPr/>
          <p:nvPr/>
        </p:nvSpPr>
        <p:spPr>
          <a:xfrm>
            <a:off x="3200400" y="4572000"/>
            <a:ext cx="2560320" cy="1737360"/>
          </a:xfrm>
          <a:prstGeom prst="rect">
            <a:avLst/>
          </a:prstGeom>
          <a:solidFill>
            <a:srgbClr val="FFDDE0"/>
          </a:solidFill>
          <a:ln w="15240">
            <a:solidFill>
              <a:srgbClr val="E85A5A"/>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3200400" y="4572000"/>
            <a:ext cx="2560320" cy="347472"/>
          </a:xfrm>
          <a:prstGeom prst="rect">
            <a:avLst/>
          </a:prstGeom>
          <a:solidFill>
            <a:srgbClr val="E85A5A"/>
          </a:solidFill>
          <a:ln w="12700">
            <a:solidFill>
              <a:srgbClr val="E85A5A"/>
            </a:solidFill>
            <a:prstDash val="solid"/>
          </a:ln>
        </p:spPr>
      </p:sp>
      <p:sp>
        <p:nvSpPr>
          <p:cNvPr id="31" name="Text 29"/>
          <p:cNvSpPr/>
          <p:nvPr/>
        </p:nvSpPr>
        <p:spPr>
          <a:xfrm>
            <a:off x="3200400" y="4617720"/>
            <a:ext cx="2560320" cy="27432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DimDate</a:t>
            </a:r>
            <a:endParaRPr lang="en-US" sz="1100" dirty="0"/>
          </a:p>
        </p:txBody>
      </p:sp>
      <p:sp>
        <p:nvSpPr>
          <p:cNvPr id="32" name="Text 30"/>
          <p:cNvSpPr/>
          <p:nvPr/>
        </p:nvSpPr>
        <p:spPr>
          <a:xfrm>
            <a:off x="3310128" y="4983480"/>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 DateID (PK)</a:t>
            </a:r>
            <a:endParaRPr lang="en-US" sz="950" dirty="0"/>
          </a:p>
        </p:txBody>
      </p:sp>
      <p:sp>
        <p:nvSpPr>
          <p:cNvPr id="33" name="Text 31"/>
          <p:cNvSpPr/>
          <p:nvPr/>
        </p:nvSpPr>
        <p:spPr>
          <a:xfrm>
            <a:off x="3310128" y="5230368"/>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Year</a:t>
            </a:r>
            <a:endParaRPr lang="en-US" sz="950" dirty="0"/>
          </a:p>
        </p:txBody>
      </p:sp>
      <p:sp>
        <p:nvSpPr>
          <p:cNvPr id="34" name="Text 32"/>
          <p:cNvSpPr/>
          <p:nvPr/>
        </p:nvSpPr>
        <p:spPr>
          <a:xfrm>
            <a:off x="3310128" y="5477256"/>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Decade</a:t>
            </a:r>
            <a:endParaRPr lang="en-US" sz="950" dirty="0"/>
          </a:p>
        </p:txBody>
      </p:sp>
      <p:sp>
        <p:nvSpPr>
          <p:cNvPr id="35" name="Text 33"/>
          <p:cNvSpPr/>
          <p:nvPr/>
        </p:nvSpPr>
        <p:spPr>
          <a:xfrm>
            <a:off x="3310128" y="5724144"/>
            <a:ext cx="2377440" cy="228600"/>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YearLabel</a:t>
            </a:r>
            <a:endParaRPr lang="en-US" sz="950" dirty="0"/>
          </a:p>
        </p:txBody>
      </p:sp>
      <p:sp>
        <p:nvSpPr>
          <p:cNvPr id="36" name="Shape 34"/>
          <p:cNvSpPr/>
          <p:nvPr/>
        </p:nvSpPr>
        <p:spPr>
          <a:xfrm>
            <a:off x="2834640" y="2670048"/>
            <a:ext cx="365760" cy="0"/>
          </a:xfrm>
          <a:prstGeom prst="line">
            <a:avLst/>
          </a:prstGeom>
          <a:noFill/>
          <a:ln w="19050">
            <a:solidFill>
              <a:srgbClr val="8B0000"/>
            </a:solidFill>
            <a:prstDash val="dash"/>
          </a:ln>
        </p:spPr>
      </p:sp>
      <p:sp>
        <p:nvSpPr>
          <p:cNvPr id="37" name="Shape 35"/>
          <p:cNvSpPr/>
          <p:nvPr/>
        </p:nvSpPr>
        <p:spPr>
          <a:xfrm>
            <a:off x="5943600" y="2670048"/>
            <a:ext cx="182880" cy="0"/>
          </a:xfrm>
          <a:prstGeom prst="line">
            <a:avLst/>
          </a:prstGeom>
          <a:noFill/>
          <a:ln w="19050">
            <a:solidFill>
              <a:srgbClr val="8B0000"/>
            </a:solidFill>
            <a:prstDash val="dash"/>
          </a:ln>
        </p:spPr>
      </p:sp>
      <p:sp>
        <p:nvSpPr>
          <p:cNvPr id="38" name="Shape 36"/>
          <p:cNvSpPr/>
          <p:nvPr/>
        </p:nvSpPr>
        <p:spPr>
          <a:xfrm>
            <a:off x="4572000" y="4023360"/>
            <a:ext cx="0" cy="548640"/>
          </a:xfrm>
          <a:prstGeom prst="line">
            <a:avLst/>
          </a:prstGeom>
          <a:noFill/>
          <a:ln w="19050">
            <a:solidFill>
              <a:srgbClr val="8B0000"/>
            </a:solidFill>
            <a:prstDash val="dash"/>
          </a:ln>
        </p:spPr>
      </p:sp>
      <p:sp>
        <p:nvSpPr>
          <p:cNvPr id="39" name="Text 37"/>
          <p:cNvSpPr/>
          <p:nvPr/>
        </p:nvSpPr>
        <p:spPr>
          <a:xfrm>
            <a:off x="2852928" y="2560320"/>
            <a:ext cx="347472" cy="182880"/>
          </a:xfrm>
          <a:prstGeom prst="rect">
            <a:avLst/>
          </a:prstGeom>
          <a:noFill/>
          <a:ln/>
        </p:spPr>
        <p:txBody>
          <a:bodyPr wrap="square" rtlCol="0" anchor="ctr"/>
          <a:lstStyle/>
          <a:p>
            <a:pPr algn="ctr" indent="0" marL="0">
              <a:buNone/>
            </a:pPr>
            <a:r>
              <a:rPr lang="en-US" sz="850" b="1" dirty="0">
                <a:solidFill>
                  <a:srgbClr val="E85A5A"/>
                </a:solidFill>
                <a:latin typeface="Calibri" pitchFamily="34" charset="0"/>
                <a:ea typeface="Calibri" pitchFamily="34" charset="-122"/>
                <a:cs typeface="Calibri" pitchFamily="34" charset="-120"/>
              </a:rPr>
              <a:t>1:N</a:t>
            </a:r>
            <a:endParaRPr lang="en-US" sz="850" dirty="0"/>
          </a:p>
        </p:txBody>
      </p:sp>
      <p:sp>
        <p:nvSpPr>
          <p:cNvPr id="40" name="Text 38"/>
          <p:cNvSpPr/>
          <p:nvPr/>
        </p:nvSpPr>
        <p:spPr>
          <a:xfrm>
            <a:off x="5897880" y="2560320"/>
            <a:ext cx="347472" cy="182880"/>
          </a:xfrm>
          <a:prstGeom prst="rect">
            <a:avLst/>
          </a:prstGeom>
          <a:noFill/>
          <a:ln/>
        </p:spPr>
        <p:txBody>
          <a:bodyPr wrap="square" rtlCol="0" anchor="ctr"/>
          <a:lstStyle/>
          <a:p>
            <a:pPr algn="ctr" indent="0" marL="0">
              <a:buNone/>
            </a:pPr>
            <a:r>
              <a:rPr lang="en-US" sz="850" b="1" dirty="0">
                <a:solidFill>
                  <a:srgbClr val="E85A5A"/>
                </a:solidFill>
                <a:latin typeface="Calibri" pitchFamily="34" charset="0"/>
                <a:ea typeface="Calibri" pitchFamily="34" charset="-122"/>
                <a:cs typeface="Calibri" pitchFamily="34" charset="-120"/>
              </a:rPr>
              <a:t>1:N</a:t>
            </a:r>
            <a:endParaRPr lang="en-US" sz="850" dirty="0"/>
          </a:p>
        </p:txBody>
      </p:sp>
      <p:sp>
        <p:nvSpPr>
          <p:cNvPr id="41" name="Text 39"/>
          <p:cNvSpPr/>
          <p:nvPr/>
        </p:nvSpPr>
        <p:spPr>
          <a:xfrm>
            <a:off x="4553712" y="4059936"/>
            <a:ext cx="347472" cy="182880"/>
          </a:xfrm>
          <a:prstGeom prst="rect">
            <a:avLst/>
          </a:prstGeom>
          <a:noFill/>
          <a:ln/>
        </p:spPr>
        <p:txBody>
          <a:bodyPr wrap="square" rtlCol="0" anchor="ctr"/>
          <a:lstStyle/>
          <a:p>
            <a:pPr algn="ctr" indent="0" marL="0">
              <a:buNone/>
            </a:pPr>
            <a:r>
              <a:rPr lang="en-US" sz="850" b="1" dirty="0">
                <a:solidFill>
                  <a:srgbClr val="E85A5A"/>
                </a:solidFill>
                <a:latin typeface="Calibri" pitchFamily="34" charset="0"/>
                <a:ea typeface="Calibri" pitchFamily="34" charset="-122"/>
                <a:cs typeface="Calibri" pitchFamily="34" charset="-120"/>
              </a:rPr>
              <a:t>1:N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CALCULATIONS</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DAX Measures Overview</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321040" cy="3291840"/>
        </p:xfrm>
        <a:graphic>
          <a:graphicData uri="http://schemas.openxmlformats.org/drawingml/2006/table">
            <a:tbl>
              <a:tblPr/>
              <a:tblGrid>
                <a:gridCol w="1828800"/>
                <a:gridCol w="3931920"/>
                <a:gridCol w="2560320"/>
              </a:tblGrid>
              <a:tr h="4572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 Name</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c>
                  <a:txBody>
                    <a:bodyPr/>
                    <a:lstStyle/>
                    <a:p>
                      <a:pPr indent="0" marL="0">
                        <a:buNone/>
                      </a:pPr>
                      <a:r>
                        <a:rPr lang="en-US" sz="950" b="1" dirty="0">
                          <a:solidFill>
                            <a:srgbClr val="FFFFFF"/>
                          </a:solidFill>
                          <a:latin typeface="Consolas" pitchFamily="34" charset="0"/>
                          <a:ea typeface="Consolas" pitchFamily="34" charset="-122"/>
                          <a:cs typeface="Consolas" pitchFamily="34" charset="-120"/>
                        </a:rPr>
                        <a:t>DAX Formula</a:t>
                      </a:r>
                      <a:endParaRPr lang="en-US" sz="95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Purpose</a:t>
                      </a:r>
                      <a:endParaRPr lang="en-US" sz="9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r>
              <a:tr h="457200">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TotalDeaths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A5276"/>
                          </a:solidFill>
                          <a:latin typeface="Consolas" pitchFamily="34" charset="0"/>
                          <a:ea typeface="Consolas" pitchFamily="34" charset="-122"/>
                          <a:cs typeface="Consolas" pitchFamily="34" charset="-120"/>
                        </a:rPr>
                        <a:t>SUM(FactDeaths[Deaths])</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Aggregate death count for any filter context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YearlyAvgDeaths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900" dirty="0">
                          <a:solidFill>
                            <a:srgbClr val="1A5276"/>
                          </a:solidFill>
                          <a:latin typeface="Consolas" pitchFamily="34" charset="0"/>
                          <a:ea typeface="Consolas" pitchFamily="34" charset="-122"/>
                          <a:cs typeface="Consolas" pitchFamily="34" charset="-120"/>
                        </a:rPr>
                        <a:t>DIVIDE([TotalDeaths], DISTINCTCOUNT(DimDate[Year]))</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Average annual deaths across selected period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457200">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DeathsByCause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A5276"/>
                          </a:solidFill>
                          <a:latin typeface="Consolas" pitchFamily="34" charset="0"/>
                          <a:ea typeface="Consolas" pitchFamily="34" charset="-122"/>
                          <a:cs typeface="Consolas" pitchFamily="34" charset="-120"/>
                        </a:rPr>
                        <a:t>CALCULATE([TotalDeaths], ALLEXCEPT(FactDeaths, DimCause[CauseName]))</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Deaths filtered to specific cause group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PctOfWorld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900" dirty="0">
                          <a:solidFill>
                            <a:srgbClr val="1A5276"/>
                          </a:solidFill>
                          <a:latin typeface="Consolas" pitchFamily="34" charset="0"/>
                          <a:ea typeface="Consolas" pitchFamily="34" charset="-122"/>
                          <a:cs typeface="Consolas" pitchFamily="34" charset="-120"/>
                        </a:rPr>
                        <a:t>DIVIDE([TotalDeaths], CALCULATE([TotalDeaths], ALL()))</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Share of selected deaths vs global total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457200">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TopCountryRank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1A5276"/>
                          </a:solidFill>
                          <a:latin typeface="Consolas" pitchFamily="34" charset="0"/>
                          <a:ea typeface="Consolas" pitchFamily="34" charset="-122"/>
                          <a:cs typeface="Consolas" pitchFamily="34" charset="-120"/>
                        </a:rPr>
                        <a:t>RANKX(ALL(DimCountry[CountryName]), [TotalDeaths],,DESC,Dense)</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Country rank by death count (dense ranking)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Rolling3YearAvg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900" dirty="0">
                          <a:solidFill>
                            <a:srgbClr val="1A5276"/>
                          </a:solidFill>
                          <a:latin typeface="Consolas" pitchFamily="34" charset="0"/>
                          <a:ea typeface="Consolas" pitchFamily="34" charset="-122"/>
                          <a:cs typeface="Consolas" pitchFamily="34" charset="-120"/>
                        </a:rPr>
                        <a:t>CALCULATE([TotalDeaths], DATESINPERIOD(DimDate[Year], LASTDATE(DimDate[Year]), -3, YEAR)) / 3</a:t>
                      </a:r>
                      <a:endParaRPr lang="en-US" sz="9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Smoothed 3-year rolling average for trend charts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bl>
          </a:graphicData>
        </a:graphic>
      </p:graphicFrame>
      <p:sp>
        <p:nvSpPr>
          <p:cNvPr id="6" name="Shape 3"/>
          <p:cNvSpPr/>
          <p:nvPr/>
        </p:nvSpPr>
        <p:spPr>
          <a:xfrm>
            <a:off x="457200" y="4645152"/>
            <a:ext cx="8321040" cy="347472"/>
          </a:xfrm>
          <a:prstGeom prst="rect">
            <a:avLst/>
          </a:prstGeom>
          <a:solidFill>
            <a:srgbClr val="FFDDE0"/>
          </a:solidFill>
          <a:ln w="12700">
            <a:solidFill>
              <a:srgbClr val="FFDDE0"/>
            </a:solidFill>
            <a:prstDash val="solid"/>
          </a:ln>
        </p:spPr>
      </p:sp>
      <p:sp>
        <p:nvSpPr>
          <p:cNvPr id="7" name="Text 4"/>
          <p:cNvSpPr/>
          <p:nvPr/>
        </p:nvSpPr>
        <p:spPr>
          <a:xfrm>
            <a:off x="594360" y="4681728"/>
            <a:ext cx="8046720" cy="274320"/>
          </a:xfrm>
          <a:prstGeom prst="rect">
            <a:avLst/>
          </a:prstGeom>
          <a:noFill/>
          <a:ln/>
        </p:spPr>
        <p:txBody>
          <a:bodyPr wrap="square" rtlCol="0" anchor="ctr"/>
          <a:lstStyle/>
          <a:p>
            <a:pPr indent="0" marL="0">
              <a:buNone/>
            </a:pPr>
            <a:r>
              <a:rPr lang="en-US" sz="950" i="1" dirty="0">
                <a:solidFill>
                  <a:srgbClr val="222222"/>
                </a:solidFill>
                <a:latin typeface="Calibri" pitchFamily="34" charset="0"/>
                <a:ea typeface="Calibri" pitchFamily="34" charset="-122"/>
                <a:cs typeface="Calibri" pitchFamily="34" charset="-120"/>
              </a:rPr>
              <a:t>All measures are defined in a dedicated 'Measures' table. Use CALCULATE() with ALL() / ALLEXCEPT() to control filter propagation accurately.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QUESTIONS WE ANSWER</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Problem Statement</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80160"/>
            <a:ext cx="8321040" cy="804672"/>
          </a:xfrm>
          <a:prstGeom prst="rect">
            <a:avLst/>
          </a:prstGeom>
          <a:solidFill>
            <a:srgbClr val="FFDDE0"/>
          </a:solidFill>
          <a:ln w="6350">
            <a:solidFill>
              <a:srgbClr val="E2E8F0"/>
            </a:solidFill>
            <a:prstDash val="solid"/>
          </a:ln>
        </p:spPr>
      </p:sp>
      <p:sp>
        <p:nvSpPr>
          <p:cNvPr id="6" name="Shape 4"/>
          <p:cNvSpPr/>
          <p:nvPr/>
        </p:nvSpPr>
        <p:spPr>
          <a:xfrm>
            <a:off x="457200" y="1280160"/>
            <a:ext cx="54864" cy="804672"/>
          </a:xfrm>
          <a:prstGeom prst="rect">
            <a:avLst/>
          </a:prstGeom>
          <a:solidFill>
            <a:srgbClr val="8B0000"/>
          </a:solidFill>
          <a:ln w="12700">
            <a:solidFill>
              <a:srgbClr val="8B0000"/>
            </a:solidFill>
            <a:prstDash val="solid"/>
          </a:ln>
        </p:spPr>
      </p:sp>
      <p:sp>
        <p:nvSpPr>
          <p:cNvPr id="7" name="Text 5"/>
          <p:cNvSpPr/>
          <p:nvPr/>
        </p:nvSpPr>
        <p:spPr>
          <a:xfrm>
            <a:off x="566928" y="1371600"/>
            <a:ext cx="411480" cy="621792"/>
          </a:xfrm>
          <a:prstGeom prst="rect">
            <a:avLst/>
          </a:prstGeom>
          <a:noFill/>
          <a:ln/>
        </p:spPr>
        <p:txBody>
          <a:bodyPr wrap="square" rtlCol="0" anchor="ctr"/>
          <a:lstStyle/>
          <a:p>
            <a:pPr indent="0" marL="0">
              <a:buNone/>
            </a:pPr>
            <a:r>
              <a:rPr lang="en-US" sz="1800" b="1" dirty="0">
                <a:solidFill>
                  <a:srgbClr val="8B0000"/>
                </a:solidFill>
                <a:latin typeface="Trebuchet MS" pitchFamily="34" charset="0"/>
                <a:ea typeface="Trebuchet MS" pitchFamily="34" charset="-122"/>
                <a:cs typeface="Trebuchet MS" pitchFamily="34" charset="-120"/>
              </a:rPr>
              <a:t>Q1</a:t>
            </a:r>
            <a:endParaRPr lang="en-US" sz="1800" dirty="0"/>
          </a:p>
        </p:txBody>
      </p:sp>
      <p:sp>
        <p:nvSpPr>
          <p:cNvPr id="8" name="Text 6"/>
          <p:cNvSpPr/>
          <p:nvPr/>
        </p:nvSpPr>
        <p:spPr>
          <a:xfrm>
            <a:off x="1097280" y="1335024"/>
            <a:ext cx="5029200" cy="347472"/>
          </a:xfrm>
          <a:prstGeom prst="rect">
            <a:avLst/>
          </a:prstGeom>
          <a:noFill/>
          <a:ln/>
        </p:spPr>
        <p:txBody>
          <a:bodyPr wrap="square"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Which countries carry the greatest absolute mortality burden?</a:t>
            </a:r>
            <a:endParaRPr lang="en-US" sz="1150" dirty="0"/>
          </a:p>
        </p:txBody>
      </p:sp>
      <p:sp>
        <p:nvSpPr>
          <p:cNvPr id="9" name="Text 7"/>
          <p:cNvSpPr/>
          <p:nvPr/>
        </p:nvSpPr>
        <p:spPr>
          <a:xfrm>
            <a:off x="1097280" y="1691640"/>
            <a:ext cx="5029200" cy="329184"/>
          </a:xfrm>
          <a:prstGeom prst="rect">
            <a:avLst/>
          </a:prstGeom>
          <a:noFill/>
          <a:ln/>
        </p:spPr>
        <p:txBody>
          <a:bodyPr wrap="square" rtlCol="0" anchor="ctr"/>
          <a:lstStyle/>
          <a:p>
            <a:pPr indent="0" marL="0">
              <a:buNone/>
            </a:pPr>
            <a:r>
              <a:rPr lang="en-US" sz="950" i="1" dirty="0">
                <a:solidFill>
                  <a:srgbClr val="475569"/>
                </a:solidFill>
                <a:latin typeface="Calibri" pitchFamily="34" charset="0"/>
                <a:ea typeface="Calibri" pitchFamily="34" charset="-122"/>
                <a:cs typeface="Calibri" pitchFamily="34" charset="-120"/>
              </a:rPr>
              <a:t>→ Drives resource allocation for international health funding bodies (WHO, World Bank).</a:t>
            </a:r>
            <a:endParaRPr lang="en-US" sz="950" dirty="0"/>
          </a:p>
        </p:txBody>
      </p:sp>
      <p:sp>
        <p:nvSpPr>
          <p:cNvPr id="10" name="Shape 8"/>
          <p:cNvSpPr/>
          <p:nvPr/>
        </p:nvSpPr>
        <p:spPr>
          <a:xfrm>
            <a:off x="6263640" y="1371600"/>
            <a:ext cx="2423160" cy="621792"/>
          </a:xfrm>
          <a:prstGeom prst="rect">
            <a:avLst/>
          </a:prstGeom>
          <a:solidFill>
            <a:srgbClr val="FFFFFF"/>
          </a:solidFill>
          <a:ln w="6350">
            <a:solidFill>
              <a:srgbClr val="E2E8F0"/>
            </a:solidFill>
            <a:prstDash val="solid"/>
          </a:ln>
        </p:spPr>
      </p:sp>
      <p:sp>
        <p:nvSpPr>
          <p:cNvPr id="11" name="Text 9"/>
          <p:cNvSpPr/>
          <p:nvPr/>
        </p:nvSpPr>
        <p:spPr>
          <a:xfrm>
            <a:off x="6309360" y="1389888"/>
            <a:ext cx="2331720" cy="585216"/>
          </a:xfrm>
          <a:prstGeom prst="rect">
            <a:avLst/>
          </a:prstGeom>
          <a:noFill/>
          <a:ln/>
        </p:spPr>
        <p:txBody>
          <a:bodyPr wrap="square" rtlCol="0" anchor="ctr"/>
          <a:lstStyle/>
          <a:p>
            <a:pPr algn="ctr" indent="0" marL="0">
              <a:buNone/>
            </a:pPr>
            <a:r>
              <a:rPr lang="en-US" sz="900" b="1" dirty="0">
                <a:solidFill>
                  <a:srgbClr val="E85A5A"/>
                </a:solidFill>
                <a:latin typeface="Calibri" pitchFamily="34" charset="0"/>
                <a:ea typeface="Calibri" pitchFamily="34" charset="-122"/>
                <a:cs typeface="Calibri" pitchFamily="34" charset="-120"/>
              </a:rPr>
              <a:t>Answered in slides →</a:t>
            </a:r>
            <a:endParaRPr lang="en-US" sz="900" dirty="0"/>
          </a:p>
          <a:p>
            <a:pPr algn="ctr" indent="0" marL="0">
              <a:buNone/>
            </a:pPr>
            <a:r>
              <a:rPr lang="en-US" sz="900" b="1" dirty="0">
                <a:solidFill>
                  <a:srgbClr val="E85A5A"/>
                </a:solidFill>
                <a:latin typeface="Calibri" pitchFamily="34" charset="0"/>
                <a:ea typeface="Calibri" pitchFamily="34" charset="-122"/>
                <a:cs typeface="Calibri" pitchFamily="34" charset="-120"/>
              </a:rPr>
              <a:t>8</a:t>
            </a:r>
            <a:endParaRPr lang="en-US" sz="900" dirty="0"/>
          </a:p>
        </p:txBody>
      </p:sp>
      <p:sp>
        <p:nvSpPr>
          <p:cNvPr id="12" name="Shape 10"/>
          <p:cNvSpPr/>
          <p:nvPr/>
        </p:nvSpPr>
        <p:spPr>
          <a:xfrm>
            <a:off x="457200" y="2194560"/>
            <a:ext cx="8321040" cy="804672"/>
          </a:xfrm>
          <a:prstGeom prst="rect">
            <a:avLst/>
          </a:prstGeom>
          <a:solidFill>
            <a:srgbClr val="FFFFFF"/>
          </a:solidFill>
          <a:ln w="6350">
            <a:solidFill>
              <a:srgbClr val="E2E8F0"/>
            </a:solidFill>
            <a:prstDash val="solid"/>
          </a:ln>
        </p:spPr>
      </p:sp>
      <p:sp>
        <p:nvSpPr>
          <p:cNvPr id="13" name="Shape 11"/>
          <p:cNvSpPr/>
          <p:nvPr/>
        </p:nvSpPr>
        <p:spPr>
          <a:xfrm>
            <a:off x="457200" y="2194560"/>
            <a:ext cx="54864" cy="804672"/>
          </a:xfrm>
          <a:prstGeom prst="rect">
            <a:avLst/>
          </a:prstGeom>
          <a:solidFill>
            <a:srgbClr val="8B0000"/>
          </a:solidFill>
          <a:ln w="12700">
            <a:solidFill>
              <a:srgbClr val="8B0000"/>
            </a:solidFill>
            <a:prstDash val="solid"/>
          </a:ln>
        </p:spPr>
      </p:sp>
      <p:sp>
        <p:nvSpPr>
          <p:cNvPr id="14" name="Text 12"/>
          <p:cNvSpPr/>
          <p:nvPr/>
        </p:nvSpPr>
        <p:spPr>
          <a:xfrm>
            <a:off x="566928" y="2286000"/>
            <a:ext cx="411480" cy="621792"/>
          </a:xfrm>
          <a:prstGeom prst="rect">
            <a:avLst/>
          </a:prstGeom>
          <a:noFill/>
          <a:ln/>
        </p:spPr>
        <p:txBody>
          <a:bodyPr wrap="square" rtlCol="0" anchor="ctr"/>
          <a:lstStyle/>
          <a:p>
            <a:pPr indent="0" marL="0">
              <a:buNone/>
            </a:pPr>
            <a:r>
              <a:rPr lang="en-US" sz="1800" b="1" dirty="0">
                <a:solidFill>
                  <a:srgbClr val="8B0000"/>
                </a:solidFill>
                <a:latin typeface="Trebuchet MS" pitchFamily="34" charset="0"/>
                <a:ea typeface="Trebuchet MS" pitchFamily="34" charset="-122"/>
                <a:cs typeface="Trebuchet MS" pitchFamily="34" charset="-120"/>
              </a:rPr>
              <a:t>Q2</a:t>
            </a:r>
            <a:endParaRPr lang="en-US" sz="1800" dirty="0"/>
          </a:p>
        </p:txBody>
      </p:sp>
      <p:sp>
        <p:nvSpPr>
          <p:cNvPr id="15" name="Text 13"/>
          <p:cNvSpPr/>
          <p:nvPr/>
        </p:nvSpPr>
        <p:spPr>
          <a:xfrm>
            <a:off x="1097280" y="2249424"/>
            <a:ext cx="5029200" cy="347472"/>
          </a:xfrm>
          <a:prstGeom prst="rect">
            <a:avLst/>
          </a:prstGeom>
          <a:noFill/>
          <a:ln/>
        </p:spPr>
        <p:txBody>
          <a:bodyPr wrap="square"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How has global mortality trended over three decades — improving or worsening?</a:t>
            </a:r>
            <a:endParaRPr lang="en-US" sz="1150" dirty="0"/>
          </a:p>
        </p:txBody>
      </p:sp>
      <p:sp>
        <p:nvSpPr>
          <p:cNvPr id="16" name="Text 14"/>
          <p:cNvSpPr/>
          <p:nvPr/>
        </p:nvSpPr>
        <p:spPr>
          <a:xfrm>
            <a:off x="1097280" y="2606040"/>
            <a:ext cx="5029200" cy="329184"/>
          </a:xfrm>
          <a:prstGeom prst="rect">
            <a:avLst/>
          </a:prstGeom>
          <a:noFill/>
          <a:ln/>
        </p:spPr>
        <p:txBody>
          <a:bodyPr wrap="square" rtlCol="0" anchor="ctr"/>
          <a:lstStyle/>
          <a:p>
            <a:pPr indent="0" marL="0">
              <a:buNone/>
            </a:pPr>
            <a:r>
              <a:rPr lang="en-US" sz="950" i="1" dirty="0">
                <a:solidFill>
                  <a:srgbClr val="475569"/>
                </a:solidFill>
                <a:latin typeface="Calibri" pitchFamily="34" charset="0"/>
                <a:ea typeface="Calibri" pitchFamily="34" charset="-122"/>
                <a:cs typeface="Calibri" pitchFamily="34" charset="-120"/>
              </a:rPr>
              <a:t>→ Benchmarks effectiveness of global health initiatives (MDGs, SDGs, PEPFAR).</a:t>
            </a:r>
            <a:endParaRPr lang="en-US" sz="950" dirty="0"/>
          </a:p>
        </p:txBody>
      </p:sp>
      <p:sp>
        <p:nvSpPr>
          <p:cNvPr id="17" name="Shape 15"/>
          <p:cNvSpPr/>
          <p:nvPr/>
        </p:nvSpPr>
        <p:spPr>
          <a:xfrm>
            <a:off x="6263640" y="2286000"/>
            <a:ext cx="2423160" cy="621792"/>
          </a:xfrm>
          <a:prstGeom prst="rect">
            <a:avLst/>
          </a:prstGeom>
          <a:solidFill>
            <a:srgbClr val="FFDDE0"/>
          </a:solidFill>
          <a:ln w="6350">
            <a:solidFill>
              <a:srgbClr val="E2E8F0"/>
            </a:solidFill>
            <a:prstDash val="solid"/>
          </a:ln>
        </p:spPr>
      </p:sp>
      <p:sp>
        <p:nvSpPr>
          <p:cNvPr id="18" name="Text 16"/>
          <p:cNvSpPr/>
          <p:nvPr/>
        </p:nvSpPr>
        <p:spPr>
          <a:xfrm>
            <a:off x="6309360" y="2304288"/>
            <a:ext cx="2331720" cy="585216"/>
          </a:xfrm>
          <a:prstGeom prst="rect">
            <a:avLst/>
          </a:prstGeom>
          <a:noFill/>
          <a:ln/>
        </p:spPr>
        <p:txBody>
          <a:bodyPr wrap="square" rtlCol="0" anchor="ctr"/>
          <a:lstStyle/>
          <a:p>
            <a:pPr algn="ctr" indent="0" marL="0">
              <a:buNone/>
            </a:pPr>
            <a:r>
              <a:rPr lang="en-US" sz="900" b="1" dirty="0">
                <a:solidFill>
                  <a:srgbClr val="E85A5A"/>
                </a:solidFill>
                <a:latin typeface="Calibri" pitchFamily="34" charset="0"/>
                <a:ea typeface="Calibri" pitchFamily="34" charset="-122"/>
                <a:cs typeface="Calibri" pitchFamily="34" charset="-120"/>
              </a:rPr>
              <a:t>Answered in slides →</a:t>
            </a:r>
            <a:endParaRPr lang="en-US" sz="900" dirty="0"/>
          </a:p>
          <a:p>
            <a:pPr algn="ctr" indent="0" marL="0">
              <a:buNone/>
            </a:pPr>
            <a:r>
              <a:rPr lang="en-US" sz="900" b="1" dirty="0">
                <a:solidFill>
                  <a:srgbClr val="E85A5A"/>
                </a:solidFill>
                <a:latin typeface="Calibri" pitchFamily="34" charset="0"/>
                <a:ea typeface="Calibri" pitchFamily="34" charset="-122"/>
                <a:cs typeface="Calibri" pitchFamily="34" charset="-120"/>
              </a:rPr>
              <a:t>9</a:t>
            </a:r>
            <a:endParaRPr lang="en-US" sz="900" dirty="0"/>
          </a:p>
        </p:txBody>
      </p:sp>
      <p:sp>
        <p:nvSpPr>
          <p:cNvPr id="19" name="Shape 17"/>
          <p:cNvSpPr/>
          <p:nvPr/>
        </p:nvSpPr>
        <p:spPr>
          <a:xfrm>
            <a:off x="457200" y="3108960"/>
            <a:ext cx="8321040" cy="804672"/>
          </a:xfrm>
          <a:prstGeom prst="rect">
            <a:avLst/>
          </a:prstGeom>
          <a:solidFill>
            <a:srgbClr val="FFDDE0"/>
          </a:solidFill>
          <a:ln w="6350">
            <a:solidFill>
              <a:srgbClr val="E2E8F0"/>
            </a:solidFill>
            <a:prstDash val="solid"/>
          </a:ln>
        </p:spPr>
      </p:sp>
      <p:sp>
        <p:nvSpPr>
          <p:cNvPr id="20" name="Shape 18"/>
          <p:cNvSpPr/>
          <p:nvPr/>
        </p:nvSpPr>
        <p:spPr>
          <a:xfrm>
            <a:off x="457200" y="3108960"/>
            <a:ext cx="54864" cy="804672"/>
          </a:xfrm>
          <a:prstGeom prst="rect">
            <a:avLst/>
          </a:prstGeom>
          <a:solidFill>
            <a:srgbClr val="E85A5A"/>
          </a:solidFill>
          <a:ln w="12700">
            <a:solidFill>
              <a:srgbClr val="8B0000"/>
            </a:solidFill>
            <a:prstDash val="solid"/>
          </a:ln>
        </p:spPr>
      </p:sp>
      <p:sp>
        <p:nvSpPr>
          <p:cNvPr id="21" name="Text 19"/>
          <p:cNvSpPr/>
          <p:nvPr/>
        </p:nvSpPr>
        <p:spPr>
          <a:xfrm>
            <a:off x="566928" y="3200400"/>
            <a:ext cx="411480" cy="621792"/>
          </a:xfrm>
          <a:prstGeom prst="rect">
            <a:avLst/>
          </a:prstGeom>
          <a:noFill/>
          <a:ln/>
        </p:spPr>
        <p:txBody>
          <a:bodyPr wrap="square" rtlCol="0" anchor="ctr"/>
          <a:lstStyle/>
          <a:p>
            <a:pPr indent="0" marL="0">
              <a:buNone/>
            </a:pPr>
            <a:r>
              <a:rPr lang="en-US" sz="1800" b="1" dirty="0">
                <a:solidFill>
                  <a:srgbClr val="8B0000"/>
                </a:solidFill>
                <a:latin typeface="Trebuchet MS" pitchFamily="34" charset="0"/>
                <a:ea typeface="Trebuchet MS" pitchFamily="34" charset="-122"/>
                <a:cs typeface="Trebuchet MS" pitchFamily="34" charset="-120"/>
              </a:rPr>
              <a:t>Q3</a:t>
            </a:r>
            <a:endParaRPr lang="en-US" sz="1800" dirty="0"/>
          </a:p>
        </p:txBody>
      </p:sp>
      <p:sp>
        <p:nvSpPr>
          <p:cNvPr id="22" name="Text 20"/>
          <p:cNvSpPr/>
          <p:nvPr/>
        </p:nvSpPr>
        <p:spPr>
          <a:xfrm>
            <a:off x="1097280" y="3163824"/>
            <a:ext cx="5029200" cy="347472"/>
          </a:xfrm>
          <a:prstGeom prst="rect">
            <a:avLst/>
          </a:prstGeom>
          <a:noFill/>
          <a:ln/>
        </p:spPr>
        <p:txBody>
          <a:bodyPr wrap="square"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What are the top causes of death — and are they preventable?</a:t>
            </a:r>
            <a:endParaRPr lang="en-US" sz="1150" dirty="0"/>
          </a:p>
        </p:txBody>
      </p:sp>
      <p:sp>
        <p:nvSpPr>
          <p:cNvPr id="23" name="Text 21"/>
          <p:cNvSpPr/>
          <p:nvPr/>
        </p:nvSpPr>
        <p:spPr>
          <a:xfrm>
            <a:off x="1097280" y="3520440"/>
            <a:ext cx="5029200" cy="329184"/>
          </a:xfrm>
          <a:prstGeom prst="rect">
            <a:avLst/>
          </a:prstGeom>
          <a:noFill/>
          <a:ln/>
        </p:spPr>
        <p:txBody>
          <a:bodyPr wrap="square" rtlCol="0" anchor="ctr"/>
          <a:lstStyle/>
          <a:p>
            <a:pPr indent="0" marL="0">
              <a:buNone/>
            </a:pPr>
            <a:r>
              <a:rPr lang="en-US" sz="950" i="1" dirty="0">
                <a:solidFill>
                  <a:srgbClr val="475569"/>
                </a:solidFill>
                <a:latin typeface="Calibri" pitchFamily="34" charset="0"/>
                <a:ea typeface="Calibri" pitchFamily="34" charset="-122"/>
                <a:cs typeface="Calibri" pitchFamily="34" charset="-120"/>
              </a:rPr>
              <a:t>→ Identifies where prevention vs. treatment investment delivers greatest ROI.</a:t>
            </a:r>
            <a:endParaRPr lang="en-US" sz="950" dirty="0"/>
          </a:p>
        </p:txBody>
      </p:sp>
      <p:sp>
        <p:nvSpPr>
          <p:cNvPr id="24" name="Shape 22"/>
          <p:cNvSpPr/>
          <p:nvPr/>
        </p:nvSpPr>
        <p:spPr>
          <a:xfrm>
            <a:off x="6263640" y="3200400"/>
            <a:ext cx="2423160" cy="621792"/>
          </a:xfrm>
          <a:prstGeom prst="rect">
            <a:avLst/>
          </a:prstGeom>
          <a:solidFill>
            <a:srgbClr val="FFFFFF"/>
          </a:solidFill>
          <a:ln w="6350">
            <a:solidFill>
              <a:srgbClr val="E2E8F0"/>
            </a:solidFill>
            <a:prstDash val="solid"/>
          </a:ln>
        </p:spPr>
      </p:sp>
      <p:sp>
        <p:nvSpPr>
          <p:cNvPr id="25" name="Text 23"/>
          <p:cNvSpPr/>
          <p:nvPr/>
        </p:nvSpPr>
        <p:spPr>
          <a:xfrm>
            <a:off x="6309360" y="3218688"/>
            <a:ext cx="2331720" cy="585216"/>
          </a:xfrm>
          <a:prstGeom prst="rect">
            <a:avLst/>
          </a:prstGeom>
          <a:noFill/>
          <a:ln/>
        </p:spPr>
        <p:txBody>
          <a:bodyPr wrap="square" rtlCol="0" anchor="ctr"/>
          <a:lstStyle/>
          <a:p>
            <a:pPr algn="ctr" indent="0" marL="0">
              <a:buNone/>
            </a:pPr>
            <a:r>
              <a:rPr lang="en-US" sz="900" b="1" dirty="0">
                <a:solidFill>
                  <a:srgbClr val="E85A5A"/>
                </a:solidFill>
                <a:latin typeface="Calibri" pitchFamily="34" charset="0"/>
                <a:ea typeface="Calibri" pitchFamily="34" charset="-122"/>
                <a:cs typeface="Calibri" pitchFamily="34" charset="-120"/>
              </a:rPr>
              <a:t>Answered in slides →</a:t>
            </a:r>
            <a:endParaRPr lang="en-US" sz="900" dirty="0"/>
          </a:p>
          <a:p>
            <a:pPr algn="ctr" indent="0" marL="0">
              <a:buNone/>
            </a:pPr>
            <a:r>
              <a:rPr lang="en-US" sz="900" b="1" dirty="0">
                <a:solidFill>
                  <a:srgbClr val="E85A5A"/>
                </a:solidFill>
                <a:latin typeface="Calibri" pitchFamily="34" charset="0"/>
                <a:ea typeface="Calibri" pitchFamily="34" charset="-122"/>
                <a:cs typeface="Calibri" pitchFamily="34" charset="-120"/>
              </a:rPr>
              <a:t>10</a:t>
            </a:r>
            <a:endParaRPr lang="en-US" sz="900" dirty="0"/>
          </a:p>
        </p:txBody>
      </p:sp>
      <p:sp>
        <p:nvSpPr>
          <p:cNvPr id="26" name="Shape 24"/>
          <p:cNvSpPr/>
          <p:nvPr/>
        </p:nvSpPr>
        <p:spPr>
          <a:xfrm>
            <a:off x="457200" y="4023360"/>
            <a:ext cx="8321040" cy="804672"/>
          </a:xfrm>
          <a:prstGeom prst="rect">
            <a:avLst/>
          </a:prstGeom>
          <a:solidFill>
            <a:srgbClr val="FFFFFF"/>
          </a:solidFill>
          <a:ln w="6350">
            <a:solidFill>
              <a:srgbClr val="E2E8F0"/>
            </a:solidFill>
            <a:prstDash val="solid"/>
          </a:ln>
        </p:spPr>
      </p:sp>
      <p:sp>
        <p:nvSpPr>
          <p:cNvPr id="27" name="Shape 25"/>
          <p:cNvSpPr/>
          <p:nvPr/>
        </p:nvSpPr>
        <p:spPr>
          <a:xfrm>
            <a:off x="457200" y="4023360"/>
            <a:ext cx="54864" cy="804672"/>
          </a:xfrm>
          <a:prstGeom prst="rect">
            <a:avLst/>
          </a:prstGeom>
          <a:solidFill>
            <a:srgbClr val="E85A5A"/>
          </a:solidFill>
          <a:ln w="12700">
            <a:solidFill>
              <a:srgbClr val="8B0000"/>
            </a:solidFill>
            <a:prstDash val="solid"/>
          </a:ln>
        </p:spPr>
      </p:sp>
      <p:sp>
        <p:nvSpPr>
          <p:cNvPr id="28" name="Text 26"/>
          <p:cNvSpPr/>
          <p:nvPr/>
        </p:nvSpPr>
        <p:spPr>
          <a:xfrm>
            <a:off x="566928" y="4114800"/>
            <a:ext cx="411480" cy="621792"/>
          </a:xfrm>
          <a:prstGeom prst="rect">
            <a:avLst/>
          </a:prstGeom>
          <a:noFill/>
          <a:ln/>
        </p:spPr>
        <p:txBody>
          <a:bodyPr wrap="square" rtlCol="0" anchor="ctr"/>
          <a:lstStyle/>
          <a:p>
            <a:pPr indent="0" marL="0">
              <a:buNone/>
            </a:pPr>
            <a:r>
              <a:rPr lang="en-US" sz="1800" b="1" dirty="0">
                <a:solidFill>
                  <a:srgbClr val="8B0000"/>
                </a:solidFill>
                <a:latin typeface="Trebuchet MS" pitchFamily="34" charset="0"/>
                <a:ea typeface="Trebuchet MS" pitchFamily="34" charset="-122"/>
                <a:cs typeface="Trebuchet MS" pitchFamily="34" charset="-120"/>
              </a:rPr>
              <a:t>Q4</a:t>
            </a:r>
            <a:endParaRPr lang="en-US" sz="1800" dirty="0"/>
          </a:p>
        </p:txBody>
      </p:sp>
      <p:sp>
        <p:nvSpPr>
          <p:cNvPr id="29" name="Text 27"/>
          <p:cNvSpPr/>
          <p:nvPr/>
        </p:nvSpPr>
        <p:spPr>
          <a:xfrm>
            <a:off x="1097280" y="4078224"/>
            <a:ext cx="5029200" cy="347472"/>
          </a:xfrm>
          <a:prstGeom prst="rect">
            <a:avLst/>
          </a:prstGeom>
          <a:noFill/>
          <a:ln/>
        </p:spPr>
        <p:txBody>
          <a:bodyPr wrap="square"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Which continents are most underserved relative to their disease burden?</a:t>
            </a:r>
            <a:endParaRPr lang="en-US" sz="1150" dirty="0"/>
          </a:p>
        </p:txBody>
      </p:sp>
      <p:sp>
        <p:nvSpPr>
          <p:cNvPr id="30" name="Text 28"/>
          <p:cNvSpPr/>
          <p:nvPr/>
        </p:nvSpPr>
        <p:spPr>
          <a:xfrm>
            <a:off x="1097280" y="4434840"/>
            <a:ext cx="5029200" cy="329184"/>
          </a:xfrm>
          <a:prstGeom prst="rect">
            <a:avLst/>
          </a:prstGeom>
          <a:noFill/>
          <a:ln/>
        </p:spPr>
        <p:txBody>
          <a:bodyPr wrap="square" rtlCol="0" anchor="ctr"/>
          <a:lstStyle/>
          <a:p>
            <a:pPr indent="0" marL="0">
              <a:buNone/>
            </a:pPr>
            <a:r>
              <a:rPr lang="en-US" sz="950" i="1" dirty="0">
                <a:solidFill>
                  <a:srgbClr val="475569"/>
                </a:solidFill>
                <a:latin typeface="Calibri" pitchFamily="34" charset="0"/>
                <a:ea typeface="Calibri" pitchFamily="34" charset="-122"/>
                <a:cs typeface="Calibri" pitchFamily="34" charset="-120"/>
              </a:rPr>
              <a:t>→ Uncovers equity gaps that require targeted policy and aid prioritization.</a:t>
            </a:r>
            <a:endParaRPr lang="en-US" sz="950" dirty="0"/>
          </a:p>
        </p:txBody>
      </p:sp>
      <p:sp>
        <p:nvSpPr>
          <p:cNvPr id="31" name="Shape 29"/>
          <p:cNvSpPr/>
          <p:nvPr/>
        </p:nvSpPr>
        <p:spPr>
          <a:xfrm>
            <a:off x="6263640" y="4114800"/>
            <a:ext cx="2423160" cy="621792"/>
          </a:xfrm>
          <a:prstGeom prst="rect">
            <a:avLst/>
          </a:prstGeom>
          <a:solidFill>
            <a:srgbClr val="FFDDE0"/>
          </a:solidFill>
          <a:ln w="6350">
            <a:solidFill>
              <a:srgbClr val="E2E8F0"/>
            </a:solidFill>
            <a:prstDash val="solid"/>
          </a:ln>
        </p:spPr>
      </p:sp>
      <p:sp>
        <p:nvSpPr>
          <p:cNvPr id="32" name="Text 30"/>
          <p:cNvSpPr/>
          <p:nvPr/>
        </p:nvSpPr>
        <p:spPr>
          <a:xfrm>
            <a:off x="6309360" y="4133088"/>
            <a:ext cx="2331720" cy="585216"/>
          </a:xfrm>
          <a:prstGeom prst="rect">
            <a:avLst/>
          </a:prstGeom>
          <a:noFill/>
          <a:ln/>
        </p:spPr>
        <p:txBody>
          <a:bodyPr wrap="square" rtlCol="0" anchor="ctr"/>
          <a:lstStyle/>
          <a:p>
            <a:pPr algn="ctr" indent="0" marL="0">
              <a:buNone/>
            </a:pPr>
            <a:r>
              <a:rPr lang="en-US" sz="900" b="1" dirty="0">
                <a:solidFill>
                  <a:srgbClr val="E85A5A"/>
                </a:solidFill>
                <a:latin typeface="Calibri" pitchFamily="34" charset="0"/>
                <a:ea typeface="Calibri" pitchFamily="34" charset="-122"/>
                <a:cs typeface="Calibri" pitchFamily="34" charset="-120"/>
              </a:rPr>
              <a:t>Answered in slides →</a:t>
            </a:r>
            <a:endParaRPr lang="en-US" sz="900" dirty="0"/>
          </a:p>
          <a:p>
            <a:pPr algn="ctr" indent="0" marL="0">
              <a:buNone/>
            </a:pPr>
            <a:r>
              <a:rPr lang="en-US" sz="900" b="1" dirty="0">
                <a:solidFill>
                  <a:srgbClr val="E85A5A"/>
                </a:solidFill>
                <a:latin typeface="Calibri" pitchFamily="34" charset="0"/>
                <a:ea typeface="Calibri" pitchFamily="34" charset="-122"/>
                <a:cs typeface="Calibri" pitchFamily="34" charset="-120"/>
              </a:rPr>
              <a:t>11</a:t>
            </a:r>
            <a:endParaRPr lang="en-US" sz="900" dirty="0"/>
          </a:p>
        </p:txBody>
      </p:sp>
      <p:sp>
        <p:nvSpPr>
          <p:cNvPr id="33" name="Shape 31"/>
          <p:cNvSpPr/>
          <p:nvPr/>
        </p:nvSpPr>
        <p:spPr>
          <a:xfrm>
            <a:off x="457200" y="4919472"/>
            <a:ext cx="8321040" cy="18288"/>
          </a:xfrm>
          <a:prstGeom prst="rect">
            <a:avLst/>
          </a:prstGeom>
          <a:solidFill>
            <a:srgbClr val="E2E8F0"/>
          </a:solidFill>
          <a:ln w="12700">
            <a:solidFill>
              <a:srgbClr val="E2E8F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VISUAL GUIDE</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How to Read the Dashboard Visuals</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61872"/>
            <a:ext cx="4114800" cy="1691640"/>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261872"/>
            <a:ext cx="4114800" cy="347472"/>
          </a:xfrm>
          <a:prstGeom prst="rect">
            <a:avLst/>
          </a:prstGeom>
          <a:solidFill>
            <a:srgbClr val="8B0000"/>
          </a:solidFill>
          <a:ln w="12700">
            <a:solidFill>
              <a:srgbClr val="8B0000"/>
            </a:solidFill>
            <a:prstDash val="solid"/>
          </a:ln>
        </p:spPr>
      </p:sp>
      <p:sp>
        <p:nvSpPr>
          <p:cNvPr id="7" name="Text 5"/>
          <p:cNvSpPr/>
          <p:nvPr/>
        </p:nvSpPr>
        <p:spPr>
          <a:xfrm>
            <a:off x="566928" y="1307592"/>
            <a:ext cx="38862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Choropleth World Map</a:t>
            </a:r>
            <a:endParaRPr lang="en-US" sz="1100" dirty="0"/>
          </a:p>
        </p:txBody>
      </p:sp>
      <p:sp>
        <p:nvSpPr>
          <p:cNvPr id="8" name="Text 6"/>
          <p:cNvSpPr/>
          <p:nvPr/>
        </p:nvSpPr>
        <p:spPr>
          <a:xfrm>
            <a:off x="566928" y="1664208"/>
            <a:ext cx="3886200" cy="182880"/>
          </a:xfrm>
          <a:prstGeom prst="rect">
            <a:avLst/>
          </a:prstGeom>
          <a:noFill/>
          <a:ln/>
        </p:spPr>
        <p:txBody>
          <a:bodyPr wrap="square" rtlCol="0" anchor="ctr"/>
          <a:lstStyle/>
          <a:p>
            <a:pPr indent="0" marL="0">
              <a:buNone/>
            </a:pPr>
            <a:r>
              <a:rPr lang="en-US" sz="800" b="1" spc="150" kern="0" dirty="0">
                <a:solidFill>
                  <a:srgbClr val="475569"/>
                </a:solidFill>
                <a:latin typeface="Calibri" pitchFamily="34" charset="0"/>
                <a:ea typeface="Calibri" pitchFamily="34" charset="-122"/>
                <a:cs typeface="Calibri" pitchFamily="34" charset="-120"/>
              </a:rPr>
              <a:t>HOW TO READ:</a:t>
            </a:r>
            <a:endParaRPr lang="en-US" sz="800" dirty="0"/>
          </a:p>
        </p:txBody>
      </p:sp>
      <p:sp>
        <p:nvSpPr>
          <p:cNvPr id="9" name="Text 7"/>
          <p:cNvSpPr/>
          <p:nvPr/>
        </p:nvSpPr>
        <p:spPr>
          <a:xfrm>
            <a:off x="566928" y="1828800"/>
            <a:ext cx="3886200" cy="621792"/>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Country color = death count. Deep Crimson = 30M+, Coral = 5–30M, Pale Pink = &lt;5M. Click any country to filter all visuals.</a:t>
            </a:r>
            <a:endParaRPr lang="en-US" sz="950" dirty="0"/>
          </a:p>
        </p:txBody>
      </p:sp>
      <p:sp>
        <p:nvSpPr>
          <p:cNvPr id="10" name="Text 8"/>
          <p:cNvSpPr/>
          <p:nvPr/>
        </p:nvSpPr>
        <p:spPr>
          <a:xfrm>
            <a:off x="566928" y="2633472"/>
            <a:ext cx="3886200" cy="25603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 Asia visually dominates — China &amp; India are deepest red.</a:t>
            </a:r>
            <a:endParaRPr lang="en-US" sz="950" dirty="0"/>
          </a:p>
        </p:txBody>
      </p:sp>
      <p:sp>
        <p:nvSpPr>
          <p:cNvPr id="11" name="Shape 9"/>
          <p:cNvSpPr/>
          <p:nvPr/>
        </p:nvSpPr>
        <p:spPr>
          <a:xfrm>
            <a:off x="4800600" y="1261872"/>
            <a:ext cx="4114800" cy="1691640"/>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800600" y="1261872"/>
            <a:ext cx="4114800" cy="347472"/>
          </a:xfrm>
          <a:prstGeom prst="rect">
            <a:avLst/>
          </a:prstGeom>
          <a:solidFill>
            <a:srgbClr val="E85A5A"/>
          </a:solidFill>
          <a:ln w="12700">
            <a:solidFill>
              <a:srgbClr val="E85A5A"/>
            </a:solidFill>
            <a:prstDash val="solid"/>
          </a:ln>
        </p:spPr>
      </p:sp>
      <p:sp>
        <p:nvSpPr>
          <p:cNvPr id="13" name="Text 11"/>
          <p:cNvSpPr/>
          <p:nvPr/>
        </p:nvSpPr>
        <p:spPr>
          <a:xfrm>
            <a:off x="4910328" y="1307592"/>
            <a:ext cx="38862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Ranked Country Panel</a:t>
            </a:r>
            <a:endParaRPr lang="en-US" sz="1100" dirty="0"/>
          </a:p>
        </p:txBody>
      </p:sp>
      <p:sp>
        <p:nvSpPr>
          <p:cNvPr id="14" name="Text 12"/>
          <p:cNvSpPr/>
          <p:nvPr/>
        </p:nvSpPr>
        <p:spPr>
          <a:xfrm>
            <a:off x="4910328" y="1664208"/>
            <a:ext cx="3886200" cy="182880"/>
          </a:xfrm>
          <a:prstGeom prst="rect">
            <a:avLst/>
          </a:prstGeom>
          <a:noFill/>
          <a:ln/>
        </p:spPr>
        <p:txBody>
          <a:bodyPr wrap="square" rtlCol="0" anchor="ctr"/>
          <a:lstStyle/>
          <a:p>
            <a:pPr indent="0" marL="0">
              <a:buNone/>
            </a:pPr>
            <a:r>
              <a:rPr lang="en-US" sz="800" b="1" spc="150" kern="0" dirty="0">
                <a:solidFill>
                  <a:srgbClr val="475569"/>
                </a:solidFill>
                <a:latin typeface="Calibri" pitchFamily="34" charset="0"/>
                <a:ea typeface="Calibri" pitchFamily="34" charset="-122"/>
                <a:cs typeface="Calibri" pitchFamily="34" charset="-120"/>
              </a:rPr>
              <a:t>HOW TO READ:</a:t>
            </a:r>
            <a:endParaRPr lang="en-US" sz="800" dirty="0"/>
          </a:p>
        </p:txBody>
      </p:sp>
      <p:sp>
        <p:nvSpPr>
          <p:cNvPr id="15" name="Text 13"/>
          <p:cNvSpPr/>
          <p:nvPr/>
        </p:nvSpPr>
        <p:spPr>
          <a:xfrm>
            <a:off x="4910328" y="1828800"/>
            <a:ext cx="3886200" cy="621792"/>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Horizontal bars sorted descending by total deaths. Left label = country, right label = death count. Bar length = proportional share.</a:t>
            </a:r>
            <a:endParaRPr lang="en-US" sz="950" dirty="0"/>
          </a:p>
        </p:txBody>
      </p:sp>
      <p:sp>
        <p:nvSpPr>
          <p:cNvPr id="16" name="Text 14"/>
          <p:cNvSpPr/>
          <p:nvPr/>
        </p:nvSpPr>
        <p:spPr>
          <a:xfrm>
            <a:off x="4910328" y="2633472"/>
            <a:ext cx="3886200" cy="256032"/>
          </a:xfrm>
          <a:prstGeom prst="rect">
            <a:avLst/>
          </a:prstGeom>
          <a:noFill/>
          <a:ln/>
        </p:spPr>
        <p:txBody>
          <a:bodyPr wrap="square" rtlCol="0" anchor="ctr"/>
          <a:lstStyle/>
          <a:p>
            <a:pPr indent="0" marL="0">
              <a:buNone/>
            </a:pPr>
            <a:r>
              <a:rPr lang="en-US" sz="950" b="1" dirty="0">
                <a:solidFill>
                  <a:srgbClr val="E85A5A"/>
                </a:solidFill>
                <a:latin typeface="Calibri" pitchFamily="34" charset="0"/>
                <a:ea typeface="Calibri" pitchFamily="34" charset="-122"/>
                <a:cs typeface="Calibri" pitchFamily="34" charset="-120"/>
              </a:rPr>
              <a:t>🔑 China &amp; India together = 34% of all global deaths.</a:t>
            </a:r>
            <a:endParaRPr lang="en-US" sz="950" dirty="0"/>
          </a:p>
        </p:txBody>
      </p:sp>
      <p:sp>
        <p:nvSpPr>
          <p:cNvPr id="17" name="Shape 15"/>
          <p:cNvSpPr/>
          <p:nvPr/>
        </p:nvSpPr>
        <p:spPr>
          <a:xfrm>
            <a:off x="457200" y="3136392"/>
            <a:ext cx="4114800" cy="1691640"/>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57200" y="3136392"/>
            <a:ext cx="4114800" cy="347472"/>
          </a:xfrm>
          <a:prstGeom prst="rect">
            <a:avLst/>
          </a:prstGeom>
          <a:solidFill>
            <a:srgbClr val="C0392B"/>
          </a:solidFill>
          <a:ln w="12700">
            <a:solidFill>
              <a:srgbClr val="C0392B"/>
            </a:solidFill>
            <a:prstDash val="solid"/>
          </a:ln>
        </p:spPr>
      </p:sp>
      <p:sp>
        <p:nvSpPr>
          <p:cNvPr id="19" name="Text 17"/>
          <p:cNvSpPr/>
          <p:nvPr/>
        </p:nvSpPr>
        <p:spPr>
          <a:xfrm>
            <a:off x="566928" y="3182112"/>
            <a:ext cx="38862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Cause Breakdown Chart</a:t>
            </a:r>
            <a:endParaRPr lang="en-US" sz="1100" dirty="0"/>
          </a:p>
        </p:txBody>
      </p:sp>
      <p:sp>
        <p:nvSpPr>
          <p:cNvPr id="20" name="Text 18"/>
          <p:cNvSpPr/>
          <p:nvPr/>
        </p:nvSpPr>
        <p:spPr>
          <a:xfrm>
            <a:off x="566928" y="3538728"/>
            <a:ext cx="3886200" cy="182880"/>
          </a:xfrm>
          <a:prstGeom prst="rect">
            <a:avLst/>
          </a:prstGeom>
          <a:noFill/>
          <a:ln/>
        </p:spPr>
        <p:txBody>
          <a:bodyPr wrap="square" rtlCol="0" anchor="ctr"/>
          <a:lstStyle/>
          <a:p>
            <a:pPr indent="0" marL="0">
              <a:buNone/>
            </a:pPr>
            <a:r>
              <a:rPr lang="en-US" sz="800" b="1" spc="150" kern="0" dirty="0">
                <a:solidFill>
                  <a:srgbClr val="475569"/>
                </a:solidFill>
                <a:latin typeface="Calibri" pitchFamily="34" charset="0"/>
                <a:ea typeface="Calibri" pitchFamily="34" charset="-122"/>
                <a:cs typeface="Calibri" pitchFamily="34" charset="-120"/>
              </a:rPr>
              <a:t>HOW TO READ:</a:t>
            </a:r>
            <a:endParaRPr lang="en-US" sz="800" dirty="0"/>
          </a:p>
        </p:txBody>
      </p:sp>
      <p:sp>
        <p:nvSpPr>
          <p:cNvPr id="21" name="Text 19"/>
          <p:cNvSpPr/>
          <p:nvPr/>
        </p:nvSpPr>
        <p:spPr>
          <a:xfrm>
            <a:off x="566928" y="3703320"/>
            <a:ext cx="3886200" cy="621792"/>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Vertical bars by disease category. Crimson = top tier, Coral = secondary, Pale = remainder. Hover for yearly breakdown.</a:t>
            </a:r>
            <a:endParaRPr lang="en-US" sz="950" dirty="0"/>
          </a:p>
        </p:txBody>
      </p:sp>
      <p:sp>
        <p:nvSpPr>
          <p:cNvPr id="22" name="Text 20"/>
          <p:cNvSpPr/>
          <p:nvPr/>
        </p:nvSpPr>
        <p:spPr>
          <a:xfrm>
            <a:off x="566928" y="4507992"/>
            <a:ext cx="3886200" cy="256032"/>
          </a:xfrm>
          <a:prstGeom prst="rect">
            <a:avLst/>
          </a:prstGeom>
          <a:noFill/>
          <a:ln/>
        </p:spPr>
        <p:txBody>
          <a:bodyPr wrap="square"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 Cardiovascular alone &gt; Neoplasms + Respiratory combined.</a:t>
            </a:r>
            <a:endParaRPr lang="en-US" sz="950" dirty="0"/>
          </a:p>
        </p:txBody>
      </p:sp>
      <p:sp>
        <p:nvSpPr>
          <p:cNvPr id="23" name="Shape 21"/>
          <p:cNvSpPr/>
          <p:nvPr/>
        </p:nvSpPr>
        <p:spPr>
          <a:xfrm>
            <a:off x="4800600" y="3136392"/>
            <a:ext cx="4114800" cy="1691640"/>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800600" y="3136392"/>
            <a:ext cx="4114800" cy="347472"/>
          </a:xfrm>
          <a:prstGeom prst="rect">
            <a:avLst/>
          </a:prstGeom>
          <a:solidFill>
            <a:srgbClr val="9B2226"/>
          </a:solidFill>
          <a:ln w="12700">
            <a:solidFill>
              <a:srgbClr val="9B2226"/>
            </a:solidFill>
            <a:prstDash val="solid"/>
          </a:ln>
        </p:spPr>
      </p:sp>
      <p:sp>
        <p:nvSpPr>
          <p:cNvPr id="25" name="Text 23"/>
          <p:cNvSpPr/>
          <p:nvPr/>
        </p:nvSpPr>
        <p:spPr>
          <a:xfrm>
            <a:off x="4910328" y="3182112"/>
            <a:ext cx="38862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Continent KPI Cards</a:t>
            </a:r>
            <a:endParaRPr lang="en-US" sz="1100" dirty="0"/>
          </a:p>
        </p:txBody>
      </p:sp>
      <p:sp>
        <p:nvSpPr>
          <p:cNvPr id="26" name="Text 24"/>
          <p:cNvSpPr/>
          <p:nvPr/>
        </p:nvSpPr>
        <p:spPr>
          <a:xfrm>
            <a:off x="4910328" y="3538728"/>
            <a:ext cx="3886200" cy="182880"/>
          </a:xfrm>
          <a:prstGeom prst="rect">
            <a:avLst/>
          </a:prstGeom>
          <a:noFill/>
          <a:ln/>
        </p:spPr>
        <p:txBody>
          <a:bodyPr wrap="square" rtlCol="0" anchor="ctr"/>
          <a:lstStyle/>
          <a:p>
            <a:pPr indent="0" marL="0">
              <a:buNone/>
            </a:pPr>
            <a:r>
              <a:rPr lang="en-US" sz="800" b="1" spc="150" kern="0" dirty="0">
                <a:solidFill>
                  <a:srgbClr val="475569"/>
                </a:solidFill>
                <a:latin typeface="Calibri" pitchFamily="34" charset="0"/>
                <a:ea typeface="Calibri" pitchFamily="34" charset="-122"/>
                <a:cs typeface="Calibri" pitchFamily="34" charset="-120"/>
              </a:rPr>
              <a:t>HOW TO READ:</a:t>
            </a:r>
            <a:endParaRPr lang="en-US" sz="800" dirty="0"/>
          </a:p>
        </p:txBody>
      </p:sp>
      <p:sp>
        <p:nvSpPr>
          <p:cNvPr id="27" name="Text 25"/>
          <p:cNvSpPr/>
          <p:nvPr/>
        </p:nvSpPr>
        <p:spPr>
          <a:xfrm>
            <a:off x="4910328" y="3703320"/>
            <a:ext cx="3886200" cy="621792"/>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Each card shows total deaths and % of world for one continent. The trend sparkline shows decade-over-decade direction.</a:t>
            </a:r>
            <a:endParaRPr lang="en-US" sz="950" dirty="0"/>
          </a:p>
        </p:txBody>
      </p:sp>
      <p:sp>
        <p:nvSpPr>
          <p:cNvPr id="28" name="Text 26"/>
          <p:cNvSpPr/>
          <p:nvPr/>
        </p:nvSpPr>
        <p:spPr>
          <a:xfrm>
            <a:off x="4910328" y="4507992"/>
            <a:ext cx="3886200" cy="256032"/>
          </a:xfrm>
          <a:prstGeom prst="rect">
            <a:avLst/>
          </a:prstGeom>
          <a:noFill/>
          <a:ln/>
        </p:spPr>
        <p:txBody>
          <a:bodyPr wrap="square" rtlCol="0" anchor="ctr"/>
          <a:lstStyle/>
          <a:p>
            <a:pPr indent="0" marL="0">
              <a:buNone/>
            </a:pPr>
            <a:r>
              <a:rPr lang="en-US" sz="950" b="1" dirty="0">
                <a:solidFill>
                  <a:srgbClr val="9B2226"/>
                </a:solidFill>
                <a:latin typeface="Calibri" pitchFamily="34" charset="0"/>
                <a:ea typeface="Calibri" pitchFamily="34" charset="-122"/>
                <a:cs typeface="Calibri" pitchFamily="34" charset="-120"/>
              </a:rPr>
              <a:t>🔑 Africa's share is rising — unlike Europe's declining trajectory.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BUSINESS INTELLIGENCE</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Key Insights &amp; Recommendations</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61872"/>
            <a:ext cx="8321040" cy="822960"/>
          </a:xfrm>
          <a:prstGeom prst="rect">
            <a:avLst/>
          </a:prstGeom>
          <a:solidFill>
            <a:srgbClr val="FFF5F5"/>
          </a:solidFill>
          <a:ln w="6350">
            <a:solidFill>
              <a:srgbClr val="E2E8F0"/>
            </a:solidFill>
            <a:prstDash val="solid"/>
          </a:ln>
        </p:spPr>
      </p:sp>
      <p:sp>
        <p:nvSpPr>
          <p:cNvPr id="6" name="Shape 4"/>
          <p:cNvSpPr/>
          <p:nvPr/>
        </p:nvSpPr>
        <p:spPr>
          <a:xfrm>
            <a:off x="457200" y="1261872"/>
            <a:ext cx="64008" cy="822960"/>
          </a:xfrm>
          <a:prstGeom prst="rect">
            <a:avLst/>
          </a:prstGeom>
          <a:solidFill>
            <a:srgbClr val="8B0000"/>
          </a:solidFill>
          <a:ln w="12700">
            <a:solidFill>
              <a:srgbClr val="8B0000"/>
            </a:solidFill>
            <a:prstDash val="solid"/>
          </a:ln>
        </p:spPr>
      </p:sp>
      <p:sp>
        <p:nvSpPr>
          <p:cNvPr id="7" name="Text 5"/>
          <p:cNvSpPr/>
          <p:nvPr/>
        </p:nvSpPr>
        <p:spPr>
          <a:xfrm>
            <a:off x="594360" y="1316736"/>
            <a:ext cx="1005840" cy="219456"/>
          </a:xfrm>
          <a:prstGeom prst="rect">
            <a:avLst/>
          </a:prstGeom>
          <a:noFill/>
          <a:ln/>
        </p:spPr>
        <p:txBody>
          <a:bodyPr wrap="square" rtlCol="0" anchor="ctr"/>
          <a:lstStyle/>
          <a:p>
            <a:pPr indent="0" marL="0">
              <a:buNone/>
            </a:pPr>
            <a:r>
              <a:rPr lang="en-US" sz="800" b="1" spc="150" kern="0" dirty="0">
                <a:solidFill>
                  <a:srgbClr val="8B0000"/>
                </a:solidFill>
                <a:latin typeface="Calibri" pitchFamily="34" charset="0"/>
                <a:ea typeface="Calibri" pitchFamily="34" charset="-122"/>
                <a:cs typeface="Calibri" pitchFamily="34" charset="-120"/>
              </a:rPr>
              <a:t>INSIGHT 01</a:t>
            </a:r>
            <a:endParaRPr lang="en-US" sz="800" dirty="0"/>
          </a:p>
        </p:txBody>
      </p:sp>
      <p:sp>
        <p:nvSpPr>
          <p:cNvPr id="8" name="Text 6"/>
          <p:cNvSpPr/>
          <p:nvPr/>
        </p:nvSpPr>
        <p:spPr>
          <a:xfrm>
            <a:off x="594360" y="1536192"/>
            <a:ext cx="530352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Cardiovascular disease is the #1 killer globally — responsible for 14.92M deaths per year, more than the next two causes combined.</a:t>
            </a:r>
            <a:endParaRPr lang="en-US" sz="1000" dirty="0"/>
          </a:p>
        </p:txBody>
      </p:sp>
      <p:sp>
        <p:nvSpPr>
          <p:cNvPr id="9" name="Shape 7"/>
          <p:cNvSpPr/>
          <p:nvPr/>
        </p:nvSpPr>
        <p:spPr>
          <a:xfrm>
            <a:off x="6035040" y="1325880"/>
            <a:ext cx="2743200" cy="694944"/>
          </a:xfrm>
          <a:prstGeom prst="rect">
            <a:avLst/>
          </a:prstGeom>
          <a:solidFill>
            <a:srgbClr val="FFF0F0"/>
          </a:solidFill>
          <a:ln w="9525">
            <a:solidFill>
              <a:srgbClr val="8B0000"/>
            </a:solidFill>
            <a:prstDash val="solid"/>
          </a:ln>
        </p:spPr>
      </p:sp>
      <p:sp>
        <p:nvSpPr>
          <p:cNvPr id="10" name="Text 8"/>
          <p:cNvSpPr/>
          <p:nvPr/>
        </p:nvSpPr>
        <p:spPr>
          <a:xfrm>
            <a:off x="6108192" y="1344168"/>
            <a:ext cx="2606040" cy="182880"/>
          </a:xfrm>
          <a:prstGeom prst="rect">
            <a:avLst/>
          </a:prstGeom>
          <a:noFill/>
          <a:ln/>
        </p:spPr>
        <p:txBody>
          <a:bodyPr wrap="square" rtlCol="0" anchor="ctr"/>
          <a:lstStyle/>
          <a:p>
            <a:pPr indent="0" marL="0">
              <a:buNone/>
            </a:pPr>
            <a:r>
              <a:rPr lang="en-US" sz="750" b="1" spc="150" kern="0" dirty="0">
                <a:solidFill>
                  <a:srgbClr val="8B0000"/>
                </a:solidFill>
                <a:latin typeface="Calibri" pitchFamily="34" charset="0"/>
                <a:ea typeface="Calibri" pitchFamily="34" charset="-122"/>
                <a:cs typeface="Calibri" pitchFamily="34" charset="-120"/>
              </a:rPr>
              <a:t>→ ACTION</a:t>
            </a:r>
            <a:endParaRPr lang="en-US" sz="750" dirty="0"/>
          </a:p>
        </p:txBody>
      </p:sp>
      <p:sp>
        <p:nvSpPr>
          <p:cNvPr id="11" name="Text 9"/>
          <p:cNvSpPr/>
          <p:nvPr/>
        </p:nvSpPr>
        <p:spPr>
          <a:xfrm>
            <a:off x="6108192" y="1517904"/>
            <a:ext cx="2606040" cy="347472"/>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Prioritize NCD prevention programs: mass hypertension screening &amp; low-cost statin access in Asia &amp; Africa.</a:t>
            </a:r>
            <a:endParaRPr lang="en-US" sz="850" dirty="0"/>
          </a:p>
        </p:txBody>
      </p:sp>
      <p:sp>
        <p:nvSpPr>
          <p:cNvPr id="12" name="Text 10"/>
          <p:cNvSpPr/>
          <p:nvPr/>
        </p:nvSpPr>
        <p:spPr>
          <a:xfrm>
            <a:off x="6108192" y="1865376"/>
            <a:ext cx="2606040" cy="164592"/>
          </a:xfrm>
          <a:prstGeom prst="rect">
            <a:avLst/>
          </a:prstGeom>
          <a:noFill/>
          <a:ln/>
        </p:spPr>
        <p:txBody>
          <a:bodyPr wrap="square" rtlCol="0" anchor="ctr"/>
          <a:lstStyle/>
          <a:p>
            <a:pPr indent="0" marL="0">
              <a:buNone/>
            </a:pPr>
            <a:r>
              <a:rPr lang="en-US" sz="800" b="1" i="1" dirty="0">
                <a:solidFill>
                  <a:srgbClr val="8B0000"/>
                </a:solidFill>
                <a:latin typeface="Calibri" pitchFamily="34" charset="0"/>
                <a:ea typeface="Calibri" pitchFamily="34" charset="-122"/>
                <a:cs typeface="Calibri" pitchFamily="34" charset="-120"/>
              </a:rPr>
              <a:t>Est. 2–3M preventable deaths/yr</a:t>
            </a:r>
            <a:endParaRPr lang="en-US" sz="800" dirty="0"/>
          </a:p>
        </p:txBody>
      </p:sp>
      <p:sp>
        <p:nvSpPr>
          <p:cNvPr id="13" name="Shape 11"/>
          <p:cNvSpPr/>
          <p:nvPr/>
        </p:nvSpPr>
        <p:spPr>
          <a:xfrm>
            <a:off x="457200" y="2185416"/>
            <a:ext cx="8321040" cy="822960"/>
          </a:xfrm>
          <a:prstGeom prst="rect">
            <a:avLst/>
          </a:prstGeom>
          <a:solidFill>
            <a:srgbClr val="FFFFFF"/>
          </a:solidFill>
          <a:ln w="6350">
            <a:solidFill>
              <a:srgbClr val="E2E8F0"/>
            </a:solidFill>
            <a:prstDash val="solid"/>
          </a:ln>
        </p:spPr>
      </p:sp>
      <p:sp>
        <p:nvSpPr>
          <p:cNvPr id="14" name="Shape 12"/>
          <p:cNvSpPr/>
          <p:nvPr/>
        </p:nvSpPr>
        <p:spPr>
          <a:xfrm>
            <a:off x="457200" y="2185416"/>
            <a:ext cx="64008" cy="822960"/>
          </a:xfrm>
          <a:prstGeom prst="rect">
            <a:avLst/>
          </a:prstGeom>
          <a:solidFill>
            <a:srgbClr val="E85A5A"/>
          </a:solidFill>
          <a:ln w="12700">
            <a:solidFill>
              <a:srgbClr val="E85A5A"/>
            </a:solidFill>
            <a:prstDash val="solid"/>
          </a:ln>
        </p:spPr>
      </p:sp>
      <p:sp>
        <p:nvSpPr>
          <p:cNvPr id="15" name="Text 13"/>
          <p:cNvSpPr/>
          <p:nvPr/>
        </p:nvSpPr>
        <p:spPr>
          <a:xfrm>
            <a:off x="594360" y="2240280"/>
            <a:ext cx="1005840" cy="219456"/>
          </a:xfrm>
          <a:prstGeom prst="rect">
            <a:avLst/>
          </a:prstGeom>
          <a:noFill/>
          <a:ln/>
        </p:spPr>
        <p:txBody>
          <a:bodyPr wrap="square" rtlCol="0" anchor="ctr"/>
          <a:lstStyle/>
          <a:p>
            <a:pPr indent="0" marL="0">
              <a:buNone/>
            </a:pPr>
            <a:r>
              <a:rPr lang="en-US" sz="800" b="1" spc="150" kern="0" dirty="0">
                <a:solidFill>
                  <a:srgbClr val="E85A5A"/>
                </a:solidFill>
                <a:latin typeface="Calibri" pitchFamily="34" charset="0"/>
                <a:ea typeface="Calibri" pitchFamily="34" charset="-122"/>
                <a:cs typeface="Calibri" pitchFamily="34" charset="-120"/>
              </a:rPr>
              <a:t>INSIGHT 02</a:t>
            </a:r>
            <a:endParaRPr lang="en-US" sz="800" dirty="0"/>
          </a:p>
        </p:txBody>
      </p:sp>
      <p:sp>
        <p:nvSpPr>
          <p:cNvPr id="16" name="Text 14"/>
          <p:cNvSpPr/>
          <p:nvPr/>
        </p:nvSpPr>
        <p:spPr>
          <a:xfrm>
            <a:off x="594360" y="2459736"/>
            <a:ext cx="530352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China &amp; India together account for 34% of all global deaths (265M + 238M), driven by aging populations and NCD burden.</a:t>
            </a:r>
            <a:endParaRPr lang="en-US" sz="1000" dirty="0"/>
          </a:p>
        </p:txBody>
      </p:sp>
      <p:sp>
        <p:nvSpPr>
          <p:cNvPr id="17" name="Shape 15"/>
          <p:cNvSpPr/>
          <p:nvPr/>
        </p:nvSpPr>
        <p:spPr>
          <a:xfrm>
            <a:off x="6035040" y="2249424"/>
            <a:ext cx="2743200" cy="694944"/>
          </a:xfrm>
          <a:prstGeom prst="rect">
            <a:avLst/>
          </a:prstGeom>
          <a:solidFill>
            <a:srgbClr val="FFF8F8"/>
          </a:solidFill>
          <a:ln w="9525">
            <a:solidFill>
              <a:srgbClr val="E85A5A"/>
            </a:solidFill>
            <a:prstDash val="solid"/>
          </a:ln>
        </p:spPr>
      </p:sp>
      <p:sp>
        <p:nvSpPr>
          <p:cNvPr id="18" name="Text 16"/>
          <p:cNvSpPr/>
          <p:nvPr/>
        </p:nvSpPr>
        <p:spPr>
          <a:xfrm>
            <a:off x="6108192" y="2267712"/>
            <a:ext cx="2606040" cy="182880"/>
          </a:xfrm>
          <a:prstGeom prst="rect">
            <a:avLst/>
          </a:prstGeom>
          <a:noFill/>
          <a:ln/>
        </p:spPr>
        <p:txBody>
          <a:bodyPr wrap="square" rtlCol="0" anchor="ctr"/>
          <a:lstStyle/>
          <a:p>
            <a:pPr indent="0" marL="0">
              <a:buNone/>
            </a:pPr>
            <a:r>
              <a:rPr lang="en-US" sz="750" b="1" spc="150" kern="0" dirty="0">
                <a:solidFill>
                  <a:srgbClr val="E85A5A"/>
                </a:solidFill>
                <a:latin typeface="Calibri" pitchFamily="34" charset="0"/>
                <a:ea typeface="Calibri" pitchFamily="34" charset="-122"/>
                <a:cs typeface="Calibri" pitchFamily="34" charset="-120"/>
              </a:rPr>
              <a:t>→ ACTION</a:t>
            </a:r>
            <a:endParaRPr lang="en-US" sz="750" dirty="0"/>
          </a:p>
        </p:txBody>
      </p:sp>
      <p:sp>
        <p:nvSpPr>
          <p:cNvPr id="19" name="Text 17"/>
          <p:cNvSpPr/>
          <p:nvPr/>
        </p:nvSpPr>
        <p:spPr>
          <a:xfrm>
            <a:off x="6108192" y="2441448"/>
            <a:ext cx="2606040" cy="347472"/>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Bilateral health investment framework: scale geriatric care infrastructure and early cancer detection in both nations.</a:t>
            </a:r>
            <a:endParaRPr lang="en-US" sz="850" dirty="0"/>
          </a:p>
        </p:txBody>
      </p:sp>
      <p:sp>
        <p:nvSpPr>
          <p:cNvPr id="20" name="Text 18"/>
          <p:cNvSpPr/>
          <p:nvPr/>
        </p:nvSpPr>
        <p:spPr>
          <a:xfrm>
            <a:off x="6108192" y="2788920"/>
            <a:ext cx="2606040" cy="164592"/>
          </a:xfrm>
          <a:prstGeom prst="rect">
            <a:avLst/>
          </a:prstGeom>
          <a:noFill/>
          <a:ln/>
        </p:spPr>
        <p:txBody>
          <a:bodyPr wrap="square" rtlCol="0" anchor="ctr"/>
          <a:lstStyle/>
          <a:p>
            <a:pPr indent="0" marL="0">
              <a:buNone/>
            </a:pPr>
            <a:r>
              <a:rPr lang="en-US" sz="800" b="1" i="1" dirty="0">
                <a:solidFill>
                  <a:srgbClr val="E85A5A"/>
                </a:solidFill>
                <a:latin typeface="Calibri" pitchFamily="34" charset="0"/>
                <a:ea typeface="Calibri" pitchFamily="34" charset="-122"/>
                <a:cs typeface="Calibri" pitchFamily="34" charset="-120"/>
              </a:rPr>
              <a:t>Highest absolute ROI in global health</a:t>
            </a:r>
            <a:endParaRPr lang="en-US" sz="800" dirty="0"/>
          </a:p>
        </p:txBody>
      </p:sp>
      <p:sp>
        <p:nvSpPr>
          <p:cNvPr id="21" name="Shape 19"/>
          <p:cNvSpPr/>
          <p:nvPr/>
        </p:nvSpPr>
        <p:spPr>
          <a:xfrm>
            <a:off x="457200" y="3108960"/>
            <a:ext cx="8321040" cy="822960"/>
          </a:xfrm>
          <a:prstGeom prst="rect">
            <a:avLst/>
          </a:prstGeom>
          <a:solidFill>
            <a:srgbClr val="FFF5F5"/>
          </a:solidFill>
          <a:ln w="6350">
            <a:solidFill>
              <a:srgbClr val="E2E8F0"/>
            </a:solidFill>
            <a:prstDash val="solid"/>
          </a:ln>
        </p:spPr>
      </p:sp>
      <p:sp>
        <p:nvSpPr>
          <p:cNvPr id="22" name="Shape 20"/>
          <p:cNvSpPr/>
          <p:nvPr/>
        </p:nvSpPr>
        <p:spPr>
          <a:xfrm>
            <a:off x="457200" y="3108960"/>
            <a:ext cx="64008" cy="822960"/>
          </a:xfrm>
          <a:prstGeom prst="rect">
            <a:avLst/>
          </a:prstGeom>
          <a:solidFill>
            <a:srgbClr val="8B0000"/>
          </a:solidFill>
          <a:ln w="12700">
            <a:solidFill>
              <a:srgbClr val="8B0000"/>
            </a:solidFill>
            <a:prstDash val="solid"/>
          </a:ln>
        </p:spPr>
      </p:sp>
      <p:sp>
        <p:nvSpPr>
          <p:cNvPr id="23" name="Text 21"/>
          <p:cNvSpPr/>
          <p:nvPr/>
        </p:nvSpPr>
        <p:spPr>
          <a:xfrm>
            <a:off x="594360" y="3163824"/>
            <a:ext cx="1005840" cy="219456"/>
          </a:xfrm>
          <a:prstGeom prst="rect">
            <a:avLst/>
          </a:prstGeom>
          <a:noFill/>
          <a:ln/>
        </p:spPr>
        <p:txBody>
          <a:bodyPr wrap="square" rtlCol="0" anchor="ctr"/>
          <a:lstStyle/>
          <a:p>
            <a:pPr indent="0" marL="0">
              <a:buNone/>
            </a:pPr>
            <a:r>
              <a:rPr lang="en-US" sz="800" b="1" spc="150" kern="0" dirty="0">
                <a:solidFill>
                  <a:srgbClr val="8B0000"/>
                </a:solidFill>
                <a:latin typeface="Calibri" pitchFamily="34" charset="0"/>
                <a:ea typeface="Calibri" pitchFamily="34" charset="-122"/>
                <a:cs typeface="Calibri" pitchFamily="34" charset="-120"/>
              </a:rPr>
              <a:t>INSIGHT 03</a:t>
            </a:r>
            <a:endParaRPr lang="en-US" sz="800" dirty="0"/>
          </a:p>
        </p:txBody>
      </p:sp>
      <p:sp>
        <p:nvSpPr>
          <p:cNvPr id="24" name="Text 22"/>
          <p:cNvSpPr/>
          <p:nvPr/>
        </p:nvSpPr>
        <p:spPr>
          <a:xfrm>
            <a:off x="594360" y="3383280"/>
            <a:ext cx="530352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Global mortality has risen from 49.8M (1990) to 58.4M (2019) — a 17% increase — driven by population growth, not rising death rates.</a:t>
            </a:r>
            <a:endParaRPr lang="en-US" sz="1000" dirty="0"/>
          </a:p>
        </p:txBody>
      </p:sp>
      <p:sp>
        <p:nvSpPr>
          <p:cNvPr id="25" name="Shape 23"/>
          <p:cNvSpPr/>
          <p:nvPr/>
        </p:nvSpPr>
        <p:spPr>
          <a:xfrm>
            <a:off x="6035040" y="3172968"/>
            <a:ext cx="2743200" cy="694944"/>
          </a:xfrm>
          <a:prstGeom prst="rect">
            <a:avLst/>
          </a:prstGeom>
          <a:solidFill>
            <a:srgbClr val="FFF0F0"/>
          </a:solidFill>
          <a:ln w="9525">
            <a:solidFill>
              <a:srgbClr val="8B0000"/>
            </a:solidFill>
            <a:prstDash val="solid"/>
          </a:ln>
        </p:spPr>
      </p:sp>
      <p:sp>
        <p:nvSpPr>
          <p:cNvPr id="26" name="Text 24"/>
          <p:cNvSpPr/>
          <p:nvPr/>
        </p:nvSpPr>
        <p:spPr>
          <a:xfrm>
            <a:off x="6108192" y="3191256"/>
            <a:ext cx="2606040" cy="182880"/>
          </a:xfrm>
          <a:prstGeom prst="rect">
            <a:avLst/>
          </a:prstGeom>
          <a:noFill/>
          <a:ln/>
        </p:spPr>
        <p:txBody>
          <a:bodyPr wrap="square" rtlCol="0" anchor="ctr"/>
          <a:lstStyle/>
          <a:p>
            <a:pPr indent="0" marL="0">
              <a:buNone/>
            </a:pPr>
            <a:r>
              <a:rPr lang="en-US" sz="750" b="1" spc="150" kern="0" dirty="0">
                <a:solidFill>
                  <a:srgbClr val="8B0000"/>
                </a:solidFill>
                <a:latin typeface="Calibri" pitchFamily="34" charset="0"/>
                <a:ea typeface="Calibri" pitchFamily="34" charset="-122"/>
                <a:cs typeface="Calibri" pitchFamily="34" charset="-120"/>
              </a:rPr>
              <a:t>→ ACTION</a:t>
            </a:r>
            <a:endParaRPr lang="en-US" sz="750" dirty="0"/>
          </a:p>
        </p:txBody>
      </p:sp>
      <p:sp>
        <p:nvSpPr>
          <p:cNvPr id="27" name="Text 25"/>
          <p:cNvSpPr/>
          <p:nvPr/>
        </p:nvSpPr>
        <p:spPr>
          <a:xfrm>
            <a:off x="6108192" y="3364992"/>
            <a:ext cx="2606040" cy="347472"/>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Reframe policy from 'rising deaths' to 'falling death rates' — the true success story of global health over 30 years.</a:t>
            </a:r>
            <a:endParaRPr lang="en-US" sz="850" dirty="0"/>
          </a:p>
        </p:txBody>
      </p:sp>
      <p:sp>
        <p:nvSpPr>
          <p:cNvPr id="28" name="Text 26"/>
          <p:cNvSpPr/>
          <p:nvPr/>
        </p:nvSpPr>
        <p:spPr>
          <a:xfrm>
            <a:off x="6108192" y="3712464"/>
            <a:ext cx="2606040" cy="164592"/>
          </a:xfrm>
          <a:prstGeom prst="rect">
            <a:avLst/>
          </a:prstGeom>
          <a:noFill/>
          <a:ln/>
        </p:spPr>
        <p:txBody>
          <a:bodyPr wrap="square" rtlCol="0" anchor="ctr"/>
          <a:lstStyle/>
          <a:p>
            <a:pPr indent="0" marL="0">
              <a:buNone/>
            </a:pPr>
            <a:r>
              <a:rPr lang="en-US" sz="800" b="1" i="1" dirty="0">
                <a:solidFill>
                  <a:srgbClr val="8B0000"/>
                </a:solidFill>
                <a:latin typeface="Calibri" pitchFamily="34" charset="0"/>
                <a:ea typeface="Calibri" pitchFamily="34" charset="-122"/>
                <a:cs typeface="Calibri" pitchFamily="34" charset="-120"/>
              </a:rPr>
              <a:t>Critical for public communication</a:t>
            </a:r>
            <a:endParaRPr lang="en-US" sz="800" dirty="0"/>
          </a:p>
        </p:txBody>
      </p:sp>
      <p:sp>
        <p:nvSpPr>
          <p:cNvPr id="29" name="Shape 27"/>
          <p:cNvSpPr/>
          <p:nvPr/>
        </p:nvSpPr>
        <p:spPr>
          <a:xfrm>
            <a:off x="457200" y="4032504"/>
            <a:ext cx="8321040" cy="822960"/>
          </a:xfrm>
          <a:prstGeom prst="rect">
            <a:avLst/>
          </a:prstGeom>
          <a:solidFill>
            <a:srgbClr val="FFFFFF"/>
          </a:solidFill>
          <a:ln w="6350">
            <a:solidFill>
              <a:srgbClr val="E2E8F0"/>
            </a:solidFill>
            <a:prstDash val="solid"/>
          </a:ln>
        </p:spPr>
      </p:sp>
      <p:sp>
        <p:nvSpPr>
          <p:cNvPr id="30" name="Shape 28"/>
          <p:cNvSpPr/>
          <p:nvPr/>
        </p:nvSpPr>
        <p:spPr>
          <a:xfrm>
            <a:off x="457200" y="4032504"/>
            <a:ext cx="64008" cy="822960"/>
          </a:xfrm>
          <a:prstGeom prst="rect">
            <a:avLst/>
          </a:prstGeom>
          <a:solidFill>
            <a:srgbClr val="E85A5A"/>
          </a:solidFill>
          <a:ln w="12700">
            <a:solidFill>
              <a:srgbClr val="E85A5A"/>
            </a:solidFill>
            <a:prstDash val="solid"/>
          </a:ln>
        </p:spPr>
      </p:sp>
      <p:sp>
        <p:nvSpPr>
          <p:cNvPr id="31" name="Text 29"/>
          <p:cNvSpPr/>
          <p:nvPr/>
        </p:nvSpPr>
        <p:spPr>
          <a:xfrm>
            <a:off x="594360" y="4087368"/>
            <a:ext cx="1005840" cy="219456"/>
          </a:xfrm>
          <a:prstGeom prst="rect">
            <a:avLst/>
          </a:prstGeom>
          <a:noFill/>
          <a:ln/>
        </p:spPr>
        <p:txBody>
          <a:bodyPr wrap="square" rtlCol="0" anchor="ctr"/>
          <a:lstStyle/>
          <a:p>
            <a:pPr indent="0" marL="0">
              <a:buNone/>
            </a:pPr>
            <a:r>
              <a:rPr lang="en-US" sz="800" b="1" spc="150" kern="0" dirty="0">
                <a:solidFill>
                  <a:srgbClr val="E85A5A"/>
                </a:solidFill>
                <a:latin typeface="Calibri" pitchFamily="34" charset="0"/>
                <a:ea typeface="Calibri" pitchFamily="34" charset="-122"/>
                <a:cs typeface="Calibri" pitchFamily="34" charset="-120"/>
              </a:rPr>
              <a:t>INSIGHT 04</a:t>
            </a:r>
            <a:endParaRPr lang="en-US" sz="800" dirty="0"/>
          </a:p>
        </p:txBody>
      </p:sp>
      <p:sp>
        <p:nvSpPr>
          <p:cNvPr id="32" name="Text 30"/>
          <p:cNvSpPr/>
          <p:nvPr/>
        </p:nvSpPr>
        <p:spPr>
          <a:xfrm>
            <a:off x="594360" y="4306824"/>
            <a:ext cx="530352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Africa's share of global deaths is increasing decade-over-decade, while Europe's is declining — reflecting demographic and health system divergence.</a:t>
            </a:r>
            <a:endParaRPr lang="en-US" sz="1000" dirty="0"/>
          </a:p>
        </p:txBody>
      </p:sp>
      <p:sp>
        <p:nvSpPr>
          <p:cNvPr id="33" name="Shape 31"/>
          <p:cNvSpPr/>
          <p:nvPr/>
        </p:nvSpPr>
        <p:spPr>
          <a:xfrm>
            <a:off x="6035040" y="4096512"/>
            <a:ext cx="2743200" cy="694944"/>
          </a:xfrm>
          <a:prstGeom prst="rect">
            <a:avLst/>
          </a:prstGeom>
          <a:solidFill>
            <a:srgbClr val="FFF8F8"/>
          </a:solidFill>
          <a:ln w="9525">
            <a:solidFill>
              <a:srgbClr val="E85A5A"/>
            </a:solidFill>
            <a:prstDash val="solid"/>
          </a:ln>
        </p:spPr>
      </p:sp>
      <p:sp>
        <p:nvSpPr>
          <p:cNvPr id="34" name="Text 32"/>
          <p:cNvSpPr/>
          <p:nvPr/>
        </p:nvSpPr>
        <p:spPr>
          <a:xfrm>
            <a:off x="6108192" y="4114800"/>
            <a:ext cx="2606040" cy="182880"/>
          </a:xfrm>
          <a:prstGeom prst="rect">
            <a:avLst/>
          </a:prstGeom>
          <a:noFill/>
          <a:ln/>
        </p:spPr>
        <p:txBody>
          <a:bodyPr wrap="square" rtlCol="0" anchor="ctr"/>
          <a:lstStyle/>
          <a:p>
            <a:pPr indent="0" marL="0">
              <a:buNone/>
            </a:pPr>
            <a:r>
              <a:rPr lang="en-US" sz="750" b="1" spc="150" kern="0" dirty="0">
                <a:solidFill>
                  <a:srgbClr val="E85A5A"/>
                </a:solidFill>
                <a:latin typeface="Calibri" pitchFamily="34" charset="0"/>
                <a:ea typeface="Calibri" pitchFamily="34" charset="-122"/>
                <a:cs typeface="Calibri" pitchFamily="34" charset="-120"/>
              </a:rPr>
              <a:t>→ ACTION</a:t>
            </a:r>
            <a:endParaRPr lang="en-US" sz="750" dirty="0"/>
          </a:p>
        </p:txBody>
      </p:sp>
      <p:sp>
        <p:nvSpPr>
          <p:cNvPr id="35" name="Text 33"/>
          <p:cNvSpPr/>
          <p:nvPr/>
        </p:nvSpPr>
        <p:spPr>
          <a:xfrm>
            <a:off x="6108192" y="4288536"/>
            <a:ext cx="2606040" cy="347472"/>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Redirect a greater share of WHO discretionary health funds toward Sub-Saharan Africa's infectious disease and maternal health programs.</a:t>
            </a:r>
            <a:endParaRPr lang="en-US" sz="850" dirty="0"/>
          </a:p>
        </p:txBody>
      </p:sp>
      <p:sp>
        <p:nvSpPr>
          <p:cNvPr id="36" name="Text 34"/>
          <p:cNvSpPr/>
          <p:nvPr/>
        </p:nvSpPr>
        <p:spPr>
          <a:xfrm>
            <a:off x="6108192" y="4636008"/>
            <a:ext cx="2606040" cy="164592"/>
          </a:xfrm>
          <a:prstGeom prst="rect">
            <a:avLst/>
          </a:prstGeom>
          <a:noFill/>
          <a:ln/>
        </p:spPr>
        <p:txBody>
          <a:bodyPr wrap="square" rtlCol="0" anchor="ctr"/>
          <a:lstStyle/>
          <a:p>
            <a:pPr indent="0" marL="0">
              <a:buNone/>
            </a:pPr>
            <a:r>
              <a:rPr lang="en-US" sz="800" b="1" i="1" dirty="0">
                <a:solidFill>
                  <a:srgbClr val="E85A5A"/>
                </a:solidFill>
                <a:latin typeface="Calibri" pitchFamily="34" charset="0"/>
                <a:ea typeface="Calibri" pitchFamily="34" charset="-122"/>
                <a:cs typeface="Calibri" pitchFamily="34" charset="-120"/>
              </a:rPr>
              <a:t>Could avert 500K+ deaths/yr by 2030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30-YEAR TREND</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Global Deaths Trend (1990–2019)</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graphicFrame>
        <p:nvGraphicFramePr>
          <p:cNvPr id="5" name="Chart 0" descr=""/>
          <p:cNvGraphicFramePr/>
          <p:nvPr/>
        </p:nvGraphicFramePr>
        <p:xfrm>
          <a:off x="457200" y="1261872"/>
          <a:ext cx="832104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02920" y="2395728"/>
            <a:ext cx="1097280" cy="475488"/>
          </a:xfrm>
          <a:prstGeom prst="rect">
            <a:avLst/>
          </a:prstGeom>
          <a:noFill/>
          <a:ln/>
        </p:spPr>
        <p:txBody>
          <a:bodyPr wrap="square" rtlCol="0" anchor="ctr"/>
          <a:lstStyle/>
          <a:p>
            <a:pPr algn="ctr" indent="0" marL="0">
              <a:buNone/>
            </a:pPr>
            <a:r>
              <a:rPr lang="en-US" sz="850" b="1" dirty="0">
                <a:solidFill>
                  <a:srgbClr val="8B0000"/>
                </a:solidFill>
                <a:latin typeface="Calibri" pitchFamily="34" charset="0"/>
                <a:ea typeface="Calibri" pitchFamily="34" charset="-122"/>
                <a:cs typeface="Calibri" pitchFamily="34" charset="-120"/>
              </a:rPr>
              <a:t>49.8M</a:t>
            </a:r>
            <a:endParaRPr lang="en-US" sz="850" dirty="0"/>
          </a:p>
          <a:p>
            <a:pPr algn="ctr" indent="0" marL="0">
              <a:buNone/>
            </a:pPr>
            <a:r>
              <a:rPr lang="en-US" sz="850" b="1" dirty="0">
                <a:solidFill>
                  <a:srgbClr val="8B0000"/>
                </a:solidFill>
                <a:latin typeface="Calibri" pitchFamily="34" charset="0"/>
                <a:ea typeface="Calibri" pitchFamily="34" charset="-122"/>
                <a:cs typeface="Calibri" pitchFamily="34" charset="-120"/>
              </a:rPr>
              <a:t>(1990 baseline)</a:t>
            </a:r>
            <a:endParaRPr lang="en-US" sz="850" dirty="0"/>
          </a:p>
        </p:txBody>
      </p:sp>
      <p:sp>
        <p:nvSpPr>
          <p:cNvPr id="7" name="Text 4"/>
          <p:cNvSpPr/>
          <p:nvPr/>
        </p:nvSpPr>
        <p:spPr>
          <a:xfrm>
            <a:off x="7635240" y="1737360"/>
            <a:ext cx="1005840" cy="475488"/>
          </a:xfrm>
          <a:prstGeom prst="rect">
            <a:avLst/>
          </a:prstGeom>
          <a:noFill/>
          <a:ln/>
        </p:spPr>
        <p:txBody>
          <a:bodyPr wrap="square" rtlCol="0" anchor="ctr"/>
          <a:lstStyle/>
          <a:p>
            <a:pPr algn="ctr" indent="0" marL="0">
              <a:buNone/>
            </a:pPr>
            <a:r>
              <a:rPr lang="en-US" sz="850" b="1" dirty="0">
                <a:solidFill>
                  <a:srgbClr val="8B0000"/>
                </a:solidFill>
                <a:latin typeface="Calibri" pitchFamily="34" charset="0"/>
                <a:ea typeface="Calibri" pitchFamily="34" charset="-122"/>
                <a:cs typeface="Calibri" pitchFamily="34" charset="-120"/>
              </a:rPr>
              <a:t>58.4M</a:t>
            </a:r>
            <a:endParaRPr lang="en-US" sz="850" dirty="0"/>
          </a:p>
          <a:p>
            <a:pPr algn="ctr" indent="0" marL="0">
              <a:buNone/>
            </a:pPr>
            <a:r>
              <a:rPr lang="en-US" sz="850" b="1" dirty="0">
                <a:solidFill>
                  <a:srgbClr val="8B0000"/>
                </a:solidFill>
                <a:latin typeface="Calibri" pitchFamily="34" charset="0"/>
                <a:ea typeface="Calibri" pitchFamily="34" charset="-122"/>
                <a:cs typeface="Calibri" pitchFamily="34" charset="-120"/>
              </a:rPr>
              <a:t>(2019 peak)</a:t>
            </a:r>
            <a:endParaRPr lang="en-US" sz="850" dirty="0"/>
          </a:p>
        </p:txBody>
      </p:sp>
      <p:sp>
        <p:nvSpPr>
          <p:cNvPr id="8" name="Text 5"/>
          <p:cNvSpPr/>
          <p:nvPr/>
        </p:nvSpPr>
        <p:spPr>
          <a:xfrm>
            <a:off x="3474720" y="1325880"/>
            <a:ext cx="2194560" cy="274320"/>
          </a:xfrm>
          <a:prstGeom prst="rect">
            <a:avLst/>
          </a:prstGeom>
          <a:noFill/>
          <a:ln/>
        </p:spPr>
        <p:txBody>
          <a:bodyPr wrap="square" rtlCol="0" anchor="ctr"/>
          <a:lstStyle/>
          <a:p>
            <a:pPr algn="ctr" indent="0" marL="0">
              <a:buNone/>
            </a:pPr>
            <a:r>
              <a:rPr lang="en-US" sz="1000" b="1" i="1" dirty="0">
                <a:solidFill>
                  <a:srgbClr val="E85A5A"/>
                </a:solidFill>
                <a:latin typeface="Calibri" pitchFamily="34" charset="0"/>
                <a:ea typeface="Calibri" pitchFamily="34" charset="-122"/>
                <a:cs typeface="Calibri" pitchFamily="34" charset="-120"/>
              </a:rPr>
              <a:t>+17% over 30 years</a:t>
            </a:r>
            <a:endParaRPr lang="en-US" sz="1000" dirty="0"/>
          </a:p>
        </p:txBody>
      </p:sp>
      <p:sp>
        <p:nvSpPr>
          <p:cNvPr id="9" name="Shape 6"/>
          <p:cNvSpPr/>
          <p:nvPr/>
        </p:nvSpPr>
        <p:spPr>
          <a:xfrm>
            <a:off x="457200" y="4727448"/>
            <a:ext cx="8321040" cy="301752"/>
          </a:xfrm>
          <a:prstGeom prst="rect">
            <a:avLst/>
          </a:prstGeom>
          <a:solidFill>
            <a:srgbClr val="FFDDE0"/>
          </a:solidFill>
          <a:ln w="12700">
            <a:solidFill>
              <a:srgbClr val="FFDDE0"/>
            </a:solidFill>
            <a:prstDash val="solid"/>
          </a:ln>
        </p:spPr>
      </p:sp>
      <p:sp>
        <p:nvSpPr>
          <p:cNvPr id="10" name="Text 7"/>
          <p:cNvSpPr/>
          <p:nvPr/>
        </p:nvSpPr>
        <p:spPr>
          <a:xfrm>
            <a:off x="594360" y="4754880"/>
            <a:ext cx="8046720" cy="256032"/>
          </a:xfrm>
          <a:prstGeom prst="rect">
            <a:avLst/>
          </a:prstGeom>
          <a:noFill/>
          <a:ln/>
        </p:spPr>
        <p:txBody>
          <a:bodyPr wrap="square" rtlCol="0" anchor="ctr"/>
          <a:lstStyle/>
          <a:p>
            <a:pPr indent="0" marL="0">
              <a:buNone/>
            </a:pPr>
            <a:r>
              <a:rPr lang="en-US" sz="950" i="1" dirty="0">
                <a:solidFill>
                  <a:srgbClr val="222222"/>
                </a:solidFill>
                <a:latin typeface="Calibri" pitchFamily="34" charset="0"/>
                <a:ea typeface="Calibri" pitchFamily="34" charset="-122"/>
                <a:cs typeface="Calibri" pitchFamily="34" charset="-120"/>
              </a:rPr>
              <a:t>Rising raw deaths reflect population growth — age-standardized death rates have actually FALLEN, indicating improved global health outcomes.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GLOBAL MORTALITY ANALYSIS  |  GEOGRAPHIC BURDEN</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Top Countries by Total Deaths (1990–2019)</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61872"/>
            <a:ext cx="2377440" cy="3566160"/>
          </a:xfrm>
          <a:prstGeom prst="rect">
            <a:avLst/>
          </a:prstGeom>
          <a:solidFill>
            <a:srgbClr val="FFDDE0"/>
          </a:solidFill>
          <a:ln w="12700">
            <a:solidFill>
              <a:srgbClr val="FFDDE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261872"/>
            <a:ext cx="64008" cy="3566160"/>
          </a:xfrm>
          <a:prstGeom prst="rect">
            <a:avLst/>
          </a:prstGeom>
          <a:solidFill>
            <a:srgbClr val="8B0000"/>
          </a:solidFill>
          <a:ln w="12700">
            <a:solidFill>
              <a:srgbClr val="8B0000"/>
            </a:solidFill>
            <a:prstDash val="solid"/>
          </a:ln>
        </p:spPr>
      </p:sp>
      <p:sp>
        <p:nvSpPr>
          <p:cNvPr id="7" name="Text 5"/>
          <p:cNvSpPr/>
          <p:nvPr/>
        </p:nvSpPr>
        <p:spPr>
          <a:xfrm>
            <a:off x="594360" y="1417320"/>
            <a:ext cx="2103120" cy="475488"/>
          </a:xfrm>
          <a:prstGeom prst="rect">
            <a:avLst/>
          </a:prstGeom>
          <a:noFill/>
          <a:ln/>
        </p:spPr>
        <p:txBody>
          <a:bodyPr wrap="square" rtlCol="0" anchor="ctr"/>
          <a:lstStyle/>
          <a:p>
            <a:pPr indent="0" marL="0">
              <a:buNone/>
            </a:pPr>
            <a:r>
              <a:rPr lang="en-US" sz="2200" b="1" dirty="0">
                <a:solidFill>
                  <a:srgbClr val="8B0000"/>
                </a:solidFill>
                <a:latin typeface="Trebuchet MS" pitchFamily="34" charset="0"/>
                <a:ea typeface="Trebuchet MS" pitchFamily="34" charset="-122"/>
                <a:cs typeface="Trebuchet MS" pitchFamily="34" charset="-120"/>
              </a:rPr>
              <a:t>265.4M</a:t>
            </a:r>
            <a:endParaRPr lang="en-US" sz="2200" dirty="0"/>
          </a:p>
        </p:txBody>
      </p:sp>
      <p:sp>
        <p:nvSpPr>
          <p:cNvPr id="8" name="Text 6"/>
          <p:cNvSpPr/>
          <p:nvPr/>
        </p:nvSpPr>
        <p:spPr>
          <a:xfrm>
            <a:off x="594360" y="1892808"/>
            <a:ext cx="2103120" cy="237744"/>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China</a:t>
            </a:r>
            <a:endParaRPr lang="en-US" sz="1100" dirty="0"/>
          </a:p>
        </p:txBody>
      </p:sp>
      <p:sp>
        <p:nvSpPr>
          <p:cNvPr id="9" name="Text 7"/>
          <p:cNvSpPr/>
          <p:nvPr/>
        </p:nvSpPr>
        <p:spPr>
          <a:xfrm>
            <a:off x="594360" y="2130552"/>
            <a:ext cx="2103120" cy="201168"/>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18.10% of world</a:t>
            </a:r>
            <a:endParaRPr lang="en-US" sz="900" dirty="0"/>
          </a:p>
        </p:txBody>
      </p:sp>
      <p:sp>
        <p:nvSpPr>
          <p:cNvPr id="10" name="Shape 8"/>
          <p:cNvSpPr/>
          <p:nvPr/>
        </p:nvSpPr>
        <p:spPr>
          <a:xfrm>
            <a:off x="594360" y="2386584"/>
            <a:ext cx="2103120" cy="13716"/>
          </a:xfrm>
          <a:prstGeom prst="rect">
            <a:avLst/>
          </a:prstGeom>
          <a:solidFill>
            <a:srgbClr val="E2E8F0"/>
          </a:solidFill>
          <a:ln w="12700">
            <a:solidFill>
              <a:srgbClr val="E2E8F0"/>
            </a:solidFill>
            <a:prstDash val="solid"/>
          </a:ln>
        </p:spPr>
      </p:sp>
      <p:sp>
        <p:nvSpPr>
          <p:cNvPr id="11" name="Text 9"/>
          <p:cNvSpPr/>
          <p:nvPr/>
        </p:nvSpPr>
        <p:spPr>
          <a:xfrm>
            <a:off x="594360" y="2514600"/>
            <a:ext cx="2103120" cy="475488"/>
          </a:xfrm>
          <a:prstGeom prst="rect">
            <a:avLst/>
          </a:prstGeom>
          <a:noFill/>
          <a:ln/>
        </p:spPr>
        <p:txBody>
          <a:bodyPr wrap="square" rtlCol="0" anchor="ctr"/>
          <a:lstStyle/>
          <a:p>
            <a:pPr indent="0" marL="0">
              <a:buNone/>
            </a:pPr>
            <a:r>
              <a:rPr lang="en-US" sz="2200" b="1" dirty="0">
                <a:solidFill>
                  <a:srgbClr val="8B0000"/>
                </a:solidFill>
                <a:latin typeface="Trebuchet MS" pitchFamily="34" charset="0"/>
                <a:ea typeface="Trebuchet MS" pitchFamily="34" charset="-122"/>
                <a:cs typeface="Trebuchet MS" pitchFamily="34" charset="-120"/>
              </a:rPr>
              <a:t>238.2M</a:t>
            </a:r>
            <a:endParaRPr lang="en-US" sz="2200" dirty="0"/>
          </a:p>
        </p:txBody>
      </p:sp>
      <p:sp>
        <p:nvSpPr>
          <p:cNvPr id="12" name="Text 10"/>
          <p:cNvSpPr/>
          <p:nvPr/>
        </p:nvSpPr>
        <p:spPr>
          <a:xfrm>
            <a:off x="594360" y="2990088"/>
            <a:ext cx="2103120" cy="237744"/>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India</a:t>
            </a:r>
            <a:endParaRPr lang="en-US" sz="1100" dirty="0"/>
          </a:p>
        </p:txBody>
      </p:sp>
      <p:sp>
        <p:nvSpPr>
          <p:cNvPr id="13" name="Text 11"/>
          <p:cNvSpPr/>
          <p:nvPr/>
        </p:nvSpPr>
        <p:spPr>
          <a:xfrm>
            <a:off x="594360" y="3227832"/>
            <a:ext cx="2103120" cy="201168"/>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16.20% of world</a:t>
            </a:r>
            <a:endParaRPr lang="en-US" sz="900" dirty="0"/>
          </a:p>
        </p:txBody>
      </p:sp>
      <p:sp>
        <p:nvSpPr>
          <p:cNvPr id="14" name="Shape 12"/>
          <p:cNvSpPr/>
          <p:nvPr/>
        </p:nvSpPr>
        <p:spPr>
          <a:xfrm>
            <a:off x="594360" y="3483864"/>
            <a:ext cx="2103120" cy="13716"/>
          </a:xfrm>
          <a:prstGeom prst="rect">
            <a:avLst/>
          </a:prstGeom>
          <a:solidFill>
            <a:srgbClr val="E2E8F0"/>
          </a:solidFill>
          <a:ln w="12700">
            <a:solidFill>
              <a:srgbClr val="E2E8F0"/>
            </a:solidFill>
            <a:prstDash val="solid"/>
          </a:ln>
        </p:spPr>
      </p:sp>
      <p:sp>
        <p:nvSpPr>
          <p:cNvPr id="15" name="Text 13"/>
          <p:cNvSpPr/>
          <p:nvPr/>
        </p:nvSpPr>
        <p:spPr>
          <a:xfrm>
            <a:off x="594360" y="3611880"/>
            <a:ext cx="2103120" cy="475488"/>
          </a:xfrm>
          <a:prstGeom prst="rect">
            <a:avLst/>
          </a:prstGeom>
          <a:noFill/>
          <a:ln/>
        </p:spPr>
        <p:txBody>
          <a:bodyPr wrap="square" rtlCol="0" anchor="ctr"/>
          <a:lstStyle/>
          <a:p>
            <a:pPr indent="0" marL="0">
              <a:buNone/>
            </a:pPr>
            <a:r>
              <a:rPr lang="en-US" sz="2200" b="1" dirty="0">
                <a:solidFill>
                  <a:srgbClr val="8B0000"/>
                </a:solidFill>
                <a:latin typeface="Trebuchet MS" pitchFamily="34" charset="0"/>
                <a:ea typeface="Trebuchet MS" pitchFamily="34" charset="-122"/>
                <a:cs typeface="Trebuchet MS" pitchFamily="34" charset="-120"/>
              </a:rPr>
              <a:t>74.3M</a:t>
            </a:r>
            <a:endParaRPr lang="en-US" sz="2200" dirty="0"/>
          </a:p>
        </p:txBody>
      </p:sp>
      <p:sp>
        <p:nvSpPr>
          <p:cNvPr id="16" name="Text 14"/>
          <p:cNvSpPr/>
          <p:nvPr/>
        </p:nvSpPr>
        <p:spPr>
          <a:xfrm>
            <a:off x="594360" y="4087368"/>
            <a:ext cx="2103120" cy="237744"/>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USA</a:t>
            </a:r>
            <a:endParaRPr lang="en-US" sz="1100" dirty="0"/>
          </a:p>
        </p:txBody>
      </p:sp>
      <p:sp>
        <p:nvSpPr>
          <p:cNvPr id="17" name="Text 15"/>
          <p:cNvSpPr/>
          <p:nvPr/>
        </p:nvSpPr>
        <p:spPr>
          <a:xfrm>
            <a:off x="594360" y="4325112"/>
            <a:ext cx="2103120" cy="201168"/>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5.06% of world</a:t>
            </a:r>
            <a:endParaRPr lang="en-US" sz="900" dirty="0"/>
          </a:p>
        </p:txBody>
      </p:sp>
      <p:graphicFrame>
        <p:nvGraphicFramePr>
          <p:cNvPr id="18" name="Chart 0" descr=""/>
          <p:cNvGraphicFramePr/>
          <p:nvPr/>
        </p:nvGraphicFramePr>
        <p:xfrm>
          <a:off x="3017520" y="1261872"/>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457200" y="4864608"/>
            <a:ext cx="8321040" cy="201168"/>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Source: GBD Study / UN WPP 2024  |  Values in Millions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00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0000"/>
          </a:solidFill>
          <a:ln w="12700">
            <a:solidFill>
              <a:srgbClr val="8B0000"/>
            </a:solidFill>
            <a:prstDash val="solid"/>
          </a:ln>
        </p:spPr>
      </p:sp>
      <p:sp>
        <p:nvSpPr>
          <p:cNvPr id="3" name="Text 1"/>
          <p:cNvSpPr/>
          <p:nvPr/>
        </p:nvSpPr>
        <p:spPr>
          <a:xfrm>
            <a:off x="365760" y="292608"/>
            <a:ext cx="8412480" cy="256032"/>
          </a:xfrm>
          <a:prstGeom prst="rect">
            <a:avLst/>
          </a:prstGeom>
          <a:noFill/>
          <a:ln/>
        </p:spPr>
        <p:txBody>
          <a:bodyPr wrap="square" rtlCol="0" anchor="ctr"/>
          <a:lstStyle/>
          <a:p>
            <a:pPr indent="0" marL="0">
              <a:buNone/>
            </a:pPr>
            <a:r>
              <a:rPr lang="en-US" sz="900" b="1" spc="300" kern="0" dirty="0">
                <a:solidFill>
                  <a:srgbClr val="E85A5A"/>
                </a:solidFill>
                <a:latin typeface="Calibri" pitchFamily="34" charset="0"/>
                <a:ea typeface="Calibri" pitchFamily="34" charset="-122"/>
                <a:cs typeface="Calibri" pitchFamily="34" charset="-120"/>
              </a:rPr>
              <a:t>CONCLUSION  |  GLOBAL MORTALITY ANALYSIS</a:t>
            </a:r>
            <a:endParaRPr lang="en-US" sz="900" dirty="0"/>
          </a:p>
        </p:txBody>
      </p:sp>
      <p:sp>
        <p:nvSpPr>
          <p:cNvPr id="4" name="Text 2"/>
          <p:cNvSpPr/>
          <p:nvPr/>
        </p:nvSpPr>
        <p:spPr>
          <a:xfrm>
            <a:off x="365760" y="566928"/>
            <a:ext cx="8229600" cy="59436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What We Learned &amp; Next Steps</a:t>
            </a:r>
            <a:endParaRPr lang="en-US" sz="3000" dirty="0"/>
          </a:p>
        </p:txBody>
      </p:sp>
      <p:sp>
        <p:nvSpPr>
          <p:cNvPr id="5" name="Shape 3"/>
          <p:cNvSpPr/>
          <p:nvPr/>
        </p:nvSpPr>
        <p:spPr>
          <a:xfrm>
            <a:off x="365760" y="1298448"/>
            <a:ext cx="475488" cy="777240"/>
          </a:xfrm>
          <a:prstGeom prst="rect">
            <a:avLst/>
          </a:prstGeom>
          <a:solidFill>
            <a:srgbClr val="8B0000"/>
          </a:solidFill>
          <a:ln w="12700">
            <a:solidFill>
              <a:srgbClr val="8B0000"/>
            </a:solidFill>
            <a:prstDash val="solid"/>
          </a:ln>
        </p:spPr>
      </p:sp>
      <p:sp>
        <p:nvSpPr>
          <p:cNvPr id="6" name="Text 4"/>
          <p:cNvSpPr/>
          <p:nvPr/>
        </p:nvSpPr>
        <p:spPr>
          <a:xfrm>
            <a:off x="365760" y="1298448"/>
            <a:ext cx="475488" cy="77724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7" name="Text 5"/>
          <p:cNvSpPr/>
          <p:nvPr/>
        </p:nvSpPr>
        <p:spPr>
          <a:xfrm>
            <a:off x="1005840" y="1344168"/>
            <a:ext cx="7772400" cy="274320"/>
          </a:xfrm>
          <a:prstGeom prst="rect">
            <a:avLst/>
          </a:prstGeom>
          <a:noFill/>
          <a:ln/>
        </p:spPr>
        <p:txBody>
          <a:bodyPr wrap="square" rtlCol="0" anchor="ctr"/>
          <a:lstStyle/>
          <a:p>
            <a:pPr indent="0" marL="0">
              <a:buNone/>
            </a:pPr>
            <a:r>
              <a:rPr lang="en-US" sz="1200" b="1" dirty="0">
                <a:solidFill>
                  <a:srgbClr val="E85A5A"/>
                </a:solidFill>
                <a:latin typeface="Calibri" pitchFamily="34" charset="0"/>
                <a:ea typeface="Calibri" pitchFamily="34" charset="-122"/>
                <a:cs typeface="Calibri" pitchFamily="34" charset="-120"/>
              </a:rPr>
              <a:t>Concentration is Opportunity</a:t>
            </a:r>
            <a:endParaRPr lang="en-US" sz="1200" dirty="0"/>
          </a:p>
        </p:txBody>
      </p:sp>
      <p:sp>
        <p:nvSpPr>
          <p:cNvPr id="8" name="Text 6"/>
          <p:cNvSpPr/>
          <p:nvPr/>
        </p:nvSpPr>
        <p:spPr>
          <a:xfrm>
            <a:off x="1005840" y="1645920"/>
            <a:ext cx="7772400" cy="411480"/>
          </a:xfrm>
          <a:prstGeom prst="rect">
            <a:avLst/>
          </a:prstGeom>
          <a:noFill/>
          <a:ln/>
        </p:spPr>
        <p:txBody>
          <a:bodyPr wrap="square" rtlCol="0" anchor="ctr"/>
          <a:lstStyle/>
          <a:p>
            <a:pPr indent="0" marL="0">
              <a:buNone/>
            </a:pPr>
            <a:r>
              <a:rPr lang="en-US" sz="1050" dirty="0">
                <a:solidFill>
                  <a:srgbClr val="D0D0D0"/>
                </a:solidFill>
                <a:latin typeface="Calibri" pitchFamily="34" charset="0"/>
                <a:ea typeface="Calibri" pitchFamily="34" charset="-122"/>
                <a:cs typeface="Calibri" pitchFamily="34" charset="-120"/>
              </a:rPr>
              <a:t>34% of all deaths concentrated in two countries means targeted intervention delivers outsized global impact.</a:t>
            </a:r>
            <a:endParaRPr lang="en-US" sz="1050" dirty="0"/>
          </a:p>
        </p:txBody>
      </p:sp>
      <p:sp>
        <p:nvSpPr>
          <p:cNvPr id="9" name="Shape 7"/>
          <p:cNvSpPr/>
          <p:nvPr/>
        </p:nvSpPr>
        <p:spPr>
          <a:xfrm>
            <a:off x="365760" y="2322576"/>
            <a:ext cx="475488" cy="777240"/>
          </a:xfrm>
          <a:prstGeom prst="rect">
            <a:avLst/>
          </a:prstGeom>
          <a:solidFill>
            <a:srgbClr val="8B0000"/>
          </a:solidFill>
          <a:ln w="12700">
            <a:solidFill>
              <a:srgbClr val="8B0000"/>
            </a:solidFill>
            <a:prstDash val="solid"/>
          </a:ln>
        </p:spPr>
      </p:sp>
      <p:sp>
        <p:nvSpPr>
          <p:cNvPr id="10" name="Text 8"/>
          <p:cNvSpPr/>
          <p:nvPr/>
        </p:nvSpPr>
        <p:spPr>
          <a:xfrm>
            <a:off x="365760" y="2322576"/>
            <a:ext cx="475488" cy="77724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1" name="Text 9"/>
          <p:cNvSpPr/>
          <p:nvPr/>
        </p:nvSpPr>
        <p:spPr>
          <a:xfrm>
            <a:off x="1005840" y="2368296"/>
            <a:ext cx="7772400" cy="274320"/>
          </a:xfrm>
          <a:prstGeom prst="rect">
            <a:avLst/>
          </a:prstGeom>
          <a:noFill/>
          <a:ln/>
        </p:spPr>
        <p:txBody>
          <a:bodyPr wrap="square" rtlCol="0" anchor="ctr"/>
          <a:lstStyle/>
          <a:p>
            <a:pPr indent="0" marL="0">
              <a:buNone/>
            </a:pPr>
            <a:r>
              <a:rPr lang="en-US" sz="1200" b="1" dirty="0">
                <a:solidFill>
                  <a:srgbClr val="E85A5A"/>
                </a:solidFill>
                <a:latin typeface="Calibri" pitchFamily="34" charset="0"/>
                <a:ea typeface="Calibri" pitchFamily="34" charset="-122"/>
                <a:cs typeface="Calibri" pitchFamily="34" charset="-120"/>
              </a:rPr>
              <a:t>Cause = Prevention Roadmap</a:t>
            </a:r>
            <a:endParaRPr lang="en-US" sz="1200" dirty="0"/>
          </a:p>
        </p:txBody>
      </p:sp>
      <p:sp>
        <p:nvSpPr>
          <p:cNvPr id="12" name="Text 10"/>
          <p:cNvSpPr/>
          <p:nvPr/>
        </p:nvSpPr>
        <p:spPr>
          <a:xfrm>
            <a:off x="1005840" y="2670048"/>
            <a:ext cx="7772400" cy="411480"/>
          </a:xfrm>
          <a:prstGeom prst="rect">
            <a:avLst/>
          </a:prstGeom>
          <a:noFill/>
          <a:ln/>
        </p:spPr>
        <p:txBody>
          <a:bodyPr wrap="square" rtlCol="0" anchor="ctr"/>
          <a:lstStyle/>
          <a:p>
            <a:pPr indent="0" marL="0">
              <a:buNone/>
            </a:pPr>
            <a:r>
              <a:rPr lang="en-US" sz="1050" dirty="0">
                <a:solidFill>
                  <a:srgbClr val="D0D0D0"/>
                </a:solidFill>
                <a:latin typeface="Calibri" pitchFamily="34" charset="0"/>
                <a:ea typeface="Calibri" pitchFamily="34" charset="-122"/>
                <a:cs typeface="Calibri" pitchFamily="34" charset="-120"/>
              </a:rPr>
              <a:t>Cardiovascular diseases—the #1 cause—are largely preventable. The data makes the case for NCD investment unmistakably clear.</a:t>
            </a:r>
            <a:endParaRPr lang="en-US" sz="1050" dirty="0"/>
          </a:p>
        </p:txBody>
      </p:sp>
      <p:sp>
        <p:nvSpPr>
          <p:cNvPr id="13" name="Shape 11"/>
          <p:cNvSpPr/>
          <p:nvPr/>
        </p:nvSpPr>
        <p:spPr>
          <a:xfrm>
            <a:off x="365760" y="3346704"/>
            <a:ext cx="475488" cy="777240"/>
          </a:xfrm>
          <a:prstGeom prst="rect">
            <a:avLst/>
          </a:prstGeom>
          <a:solidFill>
            <a:srgbClr val="8B0000"/>
          </a:solidFill>
          <a:ln w="12700">
            <a:solidFill>
              <a:srgbClr val="8B0000"/>
            </a:solidFill>
            <a:prstDash val="solid"/>
          </a:ln>
        </p:spPr>
      </p:sp>
      <p:sp>
        <p:nvSpPr>
          <p:cNvPr id="14" name="Text 12"/>
          <p:cNvSpPr/>
          <p:nvPr/>
        </p:nvSpPr>
        <p:spPr>
          <a:xfrm>
            <a:off x="365760" y="3346704"/>
            <a:ext cx="475488" cy="77724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15" name="Text 13"/>
          <p:cNvSpPr/>
          <p:nvPr/>
        </p:nvSpPr>
        <p:spPr>
          <a:xfrm>
            <a:off x="1005840" y="3392424"/>
            <a:ext cx="7772400" cy="274320"/>
          </a:xfrm>
          <a:prstGeom prst="rect">
            <a:avLst/>
          </a:prstGeom>
          <a:noFill/>
          <a:ln/>
        </p:spPr>
        <p:txBody>
          <a:bodyPr wrap="square" rtlCol="0" anchor="ctr"/>
          <a:lstStyle/>
          <a:p>
            <a:pPr indent="0" marL="0">
              <a:buNone/>
            </a:pPr>
            <a:r>
              <a:rPr lang="en-US" sz="1200" b="1" dirty="0">
                <a:solidFill>
                  <a:srgbClr val="E85A5A"/>
                </a:solidFill>
                <a:latin typeface="Calibri" pitchFamily="34" charset="0"/>
                <a:ea typeface="Calibri" pitchFamily="34" charset="-122"/>
                <a:cs typeface="Calibri" pitchFamily="34" charset="-120"/>
              </a:rPr>
              <a:t>Trajectory Matters</a:t>
            </a:r>
            <a:endParaRPr lang="en-US" sz="1200" dirty="0"/>
          </a:p>
        </p:txBody>
      </p:sp>
      <p:sp>
        <p:nvSpPr>
          <p:cNvPr id="16" name="Text 14"/>
          <p:cNvSpPr/>
          <p:nvPr/>
        </p:nvSpPr>
        <p:spPr>
          <a:xfrm>
            <a:off x="1005840" y="3694176"/>
            <a:ext cx="7772400" cy="411480"/>
          </a:xfrm>
          <a:prstGeom prst="rect">
            <a:avLst/>
          </a:prstGeom>
          <a:noFill/>
          <a:ln/>
        </p:spPr>
        <p:txBody>
          <a:bodyPr wrap="square" rtlCol="0" anchor="ctr"/>
          <a:lstStyle/>
          <a:p>
            <a:pPr indent="0" marL="0">
              <a:buNone/>
            </a:pPr>
            <a:r>
              <a:rPr lang="en-US" sz="1050" dirty="0">
                <a:solidFill>
                  <a:srgbClr val="D0D0D0"/>
                </a:solidFill>
                <a:latin typeface="Calibri" pitchFamily="34" charset="0"/>
                <a:ea typeface="Calibri" pitchFamily="34" charset="-122"/>
                <a:cs typeface="Calibri" pitchFamily="34" charset="-120"/>
              </a:rPr>
              <a:t>Africa's rising mortality share demands proactive policy now, before compounding demographic pressures make correction exponentially harder.</a:t>
            </a:r>
            <a:endParaRPr lang="en-US" sz="1050" dirty="0"/>
          </a:p>
        </p:txBody>
      </p:sp>
      <p:sp>
        <p:nvSpPr>
          <p:cNvPr id="17" name="Shape 15"/>
          <p:cNvSpPr/>
          <p:nvPr/>
        </p:nvSpPr>
        <p:spPr>
          <a:xfrm>
            <a:off x="365760" y="4315968"/>
            <a:ext cx="8412480" cy="658368"/>
          </a:xfrm>
          <a:prstGeom prst="rect">
            <a:avLst/>
          </a:prstGeom>
          <a:solidFill>
            <a:srgbClr val="8B0000"/>
          </a:solidFill>
          <a:ln w="12700">
            <a:solidFill>
              <a:srgbClr val="8B0000"/>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548640" y="4361688"/>
            <a:ext cx="2011680" cy="201168"/>
          </a:xfrm>
          <a:prstGeom prst="rect">
            <a:avLst/>
          </a:prstGeom>
          <a:noFill/>
          <a:ln/>
        </p:spPr>
        <p:txBody>
          <a:bodyPr wrap="square" rtlCol="0" anchor="ctr"/>
          <a:lstStyle/>
          <a:p>
            <a:pPr indent="0" marL="0">
              <a:buNone/>
            </a:pPr>
            <a:r>
              <a:rPr lang="en-US" sz="850" b="1" spc="150" kern="0" dirty="0">
                <a:solidFill>
                  <a:srgbClr val="FFDDE0"/>
                </a:solidFill>
                <a:latin typeface="Calibri" pitchFamily="34" charset="0"/>
                <a:ea typeface="Calibri" pitchFamily="34" charset="-122"/>
                <a:cs typeface="Calibri" pitchFamily="34" charset="-120"/>
              </a:rPr>
              <a:t>TOP RECOMMENDATION:</a:t>
            </a:r>
            <a:endParaRPr lang="en-US" sz="850" dirty="0"/>
          </a:p>
        </p:txBody>
      </p:sp>
      <p:sp>
        <p:nvSpPr>
          <p:cNvPr id="19" name="Text 17"/>
          <p:cNvSpPr/>
          <p:nvPr/>
        </p:nvSpPr>
        <p:spPr>
          <a:xfrm>
            <a:off x="548640" y="4553712"/>
            <a:ext cx="8046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Launch a China-India-Africa cardiovascular prevention coalition with WHO backing, targeting 2M preventable deaths annually by 2030.</a:t>
            </a:r>
            <a:endParaRPr lang="en-US" sz="1100" dirty="0"/>
          </a:p>
        </p:txBody>
      </p:sp>
      <p:sp>
        <p:nvSpPr>
          <p:cNvPr id="20" name="Text 18"/>
          <p:cNvSpPr/>
          <p:nvPr/>
        </p:nvSpPr>
        <p:spPr>
          <a:xfrm>
            <a:off x="365760" y="4919472"/>
            <a:ext cx="8412480" cy="182880"/>
          </a:xfrm>
          <a:prstGeom prst="rect">
            <a:avLst/>
          </a:prstGeom>
          <a:noFill/>
          <a:ln/>
        </p:spPr>
        <p:txBody>
          <a:bodyPr wrap="square"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  Data ends 2019 — does not reflect COVID-19 impact.  Next steps: Update dataset to 2023, add age-standardized rates, integrate SDG health targets.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APPENDIX  |  REFERENCE</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Data Dictionary &amp; Methodology</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Text 3"/>
          <p:cNvSpPr/>
          <p:nvPr/>
        </p:nvSpPr>
        <p:spPr>
          <a:xfrm>
            <a:off x="457200" y="1298448"/>
            <a:ext cx="3931920" cy="256032"/>
          </a:xfrm>
          <a:prstGeom prst="rect">
            <a:avLst/>
          </a:prstGeom>
          <a:noFill/>
          <a:ln/>
        </p:spPr>
        <p:txBody>
          <a:bodyPr wrap="square" rtlCol="0" anchor="ctr"/>
          <a:lstStyle/>
          <a:p>
            <a:pPr indent="0" marL="0">
              <a:buNone/>
            </a:pPr>
            <a:r>
              <a:rPr lang="en-US" sz="900" b="1" spc="150" kern="0" dirty="0">
                <a:solidFill>
                  <a:srgbClr val="8B0000"/>
                </a:solidFill>
                <a:latin typeface="Calibri" pitchFamily="34" charset="0"/>
                <a:ea typeface="Calibri" pitchFamily="34" charset="-122"/>
                <a:cs typeface="Calibri" pitchFamily="34" charset="-120"/>
              </a:rPr>
              <a:t>DATA DICTIONARY</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4114800" cy="2834640"/>
        </p:xfrm>
        <a:graphic>
          <a:graphicData uri="http://schemas.openxmlformats.org/drawingml/2006/table">
            <a:tbl>
              <a:tblPr/>
              <a:tblGrid>
                <a:gridCol w="1280160"/>
                <a:gridCol w="1005840"/>
                <a:gridCol w="1828800"/>
              </a:tblGrid>
              <a:tr h="30175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Values / Notes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0000"/>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Integer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1990–2019 (30 years)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Country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195+ standardized country names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Continent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Asia, Africa, Europe, Americas, Oceania</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GBD cause categories (21 groups)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Integer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Raw death count per country/year/cause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AvgDeaths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Decimal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DIVIDE(Deaths, 30) — period average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PctOfWorld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Decimal %</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Deaths / World Total (DAX measure)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8B0000"/>
                          </a:solidFill>
                          <a:latin typeface="Calibri" pitchFamily="34" charset="0"/>
                          <a:ea typeface="Calibri" pitchFamily="34" charset="-122"/>
                          <a:cs typeface="Calibri" pitchFamily="34" charset="-120"/>
                        </a:rPr>
                        <a:t>ISO3Code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Standard 3-letter country identifier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5F5"/>
                    </a:solidFill>
                  </a:tcPr>
                </a:tc>
              </a:tr>
            </a:tbl>
          </a:graphicData>
        </a:graphic>
      </p:graphicFrame>
      <p:sp>
        <p:nvSpPr>
          <p:cNvPr id="7" name="Text 4"/>
          <p:cNvSpPr/>
          <p:nvPr/>
        </p:nvSpPr>
        <p:spPr>
          <a:xfrm>
            <a:off x="4846320" y="1298448"/>
            <a:ext cx="3931920" cy="256032"/>
          </a:xfrm>
          <a:prstGeom prst="rect">
            <a:avLst/>
          </a:prstGeom>
          <a:noFill/>
          <a:ln/>
        </p:spPr>
        <p:txBody>
          <a:bodyPr wrap="square" rtlCol="0" anchor="ctr"/>
          <a:lstStyle/>
          <a:p>
            <a:pPr indent="0" marL="0">
              <a:buNone/>
            </a:pPr>
            <a:r>
              <a:rPr lang="en-US" sz="900" b="1" spc="150" kern="0" dirty="0">
                <a:solidFill>
                  <a:srgbClr val="8B0000"/>
                </a:solidFill>
                <a:latin typeface="Calibri" pitchFamily="34" charset="0"/>
                <a:ea typeface="Calibri" pitchFamily="34" charset="-122"/>
                <a:cs typeface="Calibri" pitchFamily="34" charset="-120"/>
              </a:rPr>
              <a:t>METHODOLOGY NOTES</a:t>
            </a:r>
            <a:endParaRPr lang="en-US" sz="900" dirty="0"/>
          </a:p>
        </p:txBody>
      </p:sp>
      <p:sp>
        <p:nvSpPr>
          <p:cNvPr id="8" name="Text 5"/>
          <p:cNvSpPr/>
          <p:nvPr/>
        </p:nvSpPr>
        <p:spPr>
          <a:xfrm>
            <a:off x="4846320" y="1572768"/>
            <a:ext cx="3931920" cy="43891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1.  </a:t>
            </a:r>
            <a:pPr indent="0" marL="0">
              <a:buNone/>
            </a:pPr>
            <a:r>
              <a:rPr lang="en-US" sz="950" dirty="0">
                <a:solidFill>
                  <a:srgbClr val="222222"/>
                </a:solidFill>
                <a:latin typeface="Calibri" pitchFamily="34" charset="0"/>
                <a:ea typeface="Calibri" pitchFamily="34" charset="-122"/>
                <a:cs typeface="Calibri" pitchFamily="34" charset="-120"/>
              </a:rPr>
              <a:t>Death counts sourced from GBD Study (IHME) and cross-validated against UN WPP 2024 all-cause mortality figures.</a:t>
            </a:r>
            <a:endParaRPr lang="en-US" sz="950" dirty="0"/>
          </a:p>
        </p:txBody>
      </p:sp>
      <p:sp>
        <p:nvSpPr>
          <p:cNvPr id="9" name="Text 6"/>
          <p:cNvSpPr/>
          <p:nvPr/>
        </p:nvSpPr>
        <p:spPr>
          <a:xfrm>
            <a:off x="4846320" y="2048256"/>
            <a:ext cx="3931920" cy="43891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2.  </a:t>
            </a:r>
            <a:pPr indent="0" marL="0">
              <a:buNone/>
            </a:pPr>
            <a:r>
              <a:rPr lang="en-US" sz="950" dirty="0">
                <a:solidFill>
                  <a:srgbClr val="222222"/>
                </a:solidFill>
                <a:latin typeface="Calibri" pitchFamily="34" charset="0"/>
                <a:ea typeface="Calibri" pitchFamily="34" charset="-122"/>
                <a:cs typeface="Calibri" pitchFamily="34" charset="-120"/>
              </a:rPr>
              <a:t>Country name harmonization uses ISO 3166-1 alpha-3 as canonical identifier to resolve naming conflicts.</a:t>
            </a:r>
            <a:endParaRPr lang="en-US" sz="950" dirty="0"/>
          </a:p>
        </p:txBody>
      </p:sp>
      <p:sp>
        <p:nvSpPr>
          <p:cNvPr id="10" name="Text 7"/>
          <p:cNvSpPr/>
          <p:nvPr/>
        </p:nvSpPr>
        <p:spPr>
          <a:xfrm>
            <a:off x="4846320" y="2523744"/>
            <a:ext cx="3931920" cy="43891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3.  </a:t>
            </a:r>
            <a:pPr indent="0" marL="0">
              <a:buNone/>
            </a:pPr>
            <a:r>
              <a:rPr lang="en-US" sz="950" dirty="0">
                <a:solidFill>
                  <a:srgbClr val="222222"/>
                </a:solidFill>
                <a:latin typeface="Calibri" pitchFamily="34" charset="0"/>
                <a:ea typeface="Calibri" pitchFamily="34" charset="-122"/>
                <a:cs typeface="Calibri" pitchFamily="34" charset="-120"/>
              </a:rPr>
              <a:t>Continent grouping follows UN geoscheme (M49 standard), with Oceania including Australia &amp; Pacific Islands.</a:t>
            </a:r>
            <a:endParaRPr lang="en-US" sz="950" dirty="0"/>
          </a:p>
        </p:txBody>
      </p:sp>
      <p:sp>
        <p:nvSpPr>
          <p:cNvPr id="11" name="Text 8"/>
          <p:cNvSpPr/>
          <p:nvPr/>
        </p:nvSpPr>
        <p:spPr>
          <a:xfrm>
            <a:off x="4846320" y="2999232"/>
            <a:ext cx="3931920" cy="43891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4.  </a:t>
            </a:r>
            <a:pPr indent="0" marL="0">
              <a:buNone/>
            </a:pPr>
            <a:r>
              <a:rPr lang="en-US" sz="950" dirty="0">
                <a:solidFill>
                  <a:srgbClr val="222222"/>
                </a:solidFill>
                <a:latin typeface="Calibri" pitchFamily="34" charset="0"/>
                <a:ea typeface="Calibri" pitchFamily="34" charset="-122"/>
                <a:cs typeface="Calibri" pitchFamily="34" charset="-120"/>
              </a:rPr>
              <a:t>Cause-of-death groupings follow GBD Level 2 hierarchy (21 major cause groups).</a:t>
            </a:r>
            <a:endParaRPr lang="en-US" sz="950" dirty="0"/>
          </a:p>
        </p:txBody>
      </p:sp>
      <p:sp>
        <p:nvSpPr>
          <p:cNvPr id="12" name="Text 9"/>
          <p:cNvSpPr/>
          <p:nvPr/>
        </p:nvSpPr>
        <p:spPr>
          <a:xfrm>
            <a:off x="4846320" y="3474720"/>
            <a:ext cx="3931920" cy="43891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5.  </a:t>
            </a:r>
            <a:pPr indent="0" marL="0">
              <a:buNone/>
            </a:pPr>
            <a:r>
              <a:rPr lang="en-US" sz="950" dirty="0">
                <a:solidFill>
                  <a:srgbClr val="222222"/>
                </a:solidFill>
                <a:latin typeface="Calibri" pitchFamily="34" charset="0"/>
                <a:ea typeface="Calibri" pitchFamily="34" charset="-122"/>
                <a:cs typeface="Calibri" pitchFamily="34" charset="-120"/>
              </a:rPr>
              <a:t>Data does not include COVID-19 (2020–2023). Pandemic-period data requires separate GBD 2021 update.</a:t>
            </a:r>
            <a:endParaRPr lang="en-US" sz="950" dirty="0"/>
          </a:p>
        </p:txBody>
      </p:sp>
      <p:sp>
        <p:nvSpPr>
          <p:cNvPr id="13" name="Text 10"/>
          <p:cNvSpPr/>
          <p:nvPr/>
        </p:nvSpPr>
        <p:spPr>
          <a:xfrm>
            <a:off x="4846320" y="3950208"/>
            <a:ext cx="3931920" cy="438912"/>
          </a:xfrm>
          <a:prstGeom prst="rect">
            <a:avLst/>
          </a:prstGeom>
          <a:noFill/>
          <a:ln/>
        </p:spPr>
        <p:txBody>
          <a:bodyPr wrap="square" rtlCol="0" anchor="ctr"/>
          <a:lstStyle/>
          <a:p>
            <a:pPr indent="0" marL="0">
              <a:buNone/>
            </a:pPr>
            <a:r>
              <a:rPr lang="en-US" sz="950" b="1" dirty="0">
                <a:solidFill>
                  <a:srgbClr val="8B0000"/>
                </a:solidFill>
                <a:latin typeface="Calibri" pitchFamily="34" charset="0"/>
                <a:ea typeface="Calibri" pitchFamily="34" charset="-122"/>
                <a:cs typeface="Calibri" pitchFamily="34" charset="-120"/>
              </a:rPr>
              <a:t>6.  </a:t>
            </a:r>
            <a:pPr indent="0" marL="0">
              <a:buNone/>
            </a:pPr>
            <a:r>
              <a:rPr lang="en-US" sz="950" dirty="0">
                <a:solidFill>
                  <a:srgbClr val="222222"/>
                </a:solidFill>
                <a:latin typeface="Calibri" pitchFamily="34" charset="0"/>
                <a:ea typeface="Calibri" pitchFamily="34" charset="-122"/>
                <a:cs typeface="Calibri" pitchFamily="34" charset="-120"/>
              </a:rPr>
              <a:t>Age-standardized rates are not included in this version; recommended as a next-phase enhancement.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400" kern="0" dirty="0">
                <a:solidFill>
                  <a:srgbClr val="E85A5A"/>
                </a:solidFill>
                <a:latin typeface="Calibri" pitchFamily="34" charset="0"/>
                <a:ea typeface="Calibri" pitchFamily="34" charset="-122"/>
                <a:cs typeface="Calibri" pitchFamily="34" charset="-120"/>
              </a:rPr>
              <a:t>ADMIN  |  MAINTENANCE GUIDE</a:t>
            </a:r>
            <a:endParaRPr lang="en-US" sz="900" dirty="0"/>
          </a:p>
        </p:txBody>
      </p:sp>
      <p:sp>
        <p:nvSpPr>
          <p:cNvPr id="3" name="Text 1"/>
          <p:cNvSpPr/>
          <p:nvPr/>
        </p:nvSpPr>
        <p:spPr>
          <a:xfrm>
            <a:off x="457200" y="475488"/>
            <a:ext cx="8229600" cy="713232"/>
          </a:xfrm>
          <a:prstGeom prst="rect">
            <a:avLst/>
          </a:prstGeom>
          <a:noFill/>
          <a:ln/>
        </p:spPr>
        <p:txBody>
          <a:bodyPr wrap="square" rtlCol="0" anchor="ctr"/>
          <a:lstStyle/>
          <a:p>
            <a:pPr algn="l" indent="0" marL="0">
              <a:buNone/>
            </a:pPr>
            <a:r>
              <a:rPr lang="en-US" sz="2400" b="1" dirty="0">
                <a:solidFill>
                  <a:srgbClr val="8B0000"/>
                </a:solidFill>
                <a:latin typeface="Trebuchet MS" pitchFamily="34" charset="0"/>
                <a:ea typeface="Trebuchet MS" pitchFamily="34" charset="-122"/>
                <a:cs typeface="Trebuchet MS" pitchFamily="34" charset="-120"/>
              </a:rPr>
              <a:t>How to Update the Dashboard</a:t>
            </a:r>
            <a:endParaRPr lang="en-US" sz="2400" dirty="0"/>
          </a:p>
        </p:txBody>
      </p:sp>
      <p:sp>
        <p:nvSpPr>
          <p:cNvPr id="4" name="Shape 2"/>
          <p:cNvSpPr/>
          <p:nvPr/>
        </p:nvSpPr>
        <p:spPr>
          <a:xfrm>
            <a:off x="457200" y="1170432"/>
            <a:ext cx="8229600" cy="16459"/>
          </a:xfrm>
          <a:prstGeom prst="rect">
            <a:avLst/>
          </a:prstGeom>
          <a:solidFill>
            <a:srgbClr val="FFDDE0"/>
          </a:solidFill>
          <a:ln w="12700">
            <a:solidFill>
              <a:srgbClr val="FFDDE0"/>
            </a:solidFill>
            <a:prstDash val="solid"/>
          </a:ln>
        </p:spPr>
      </p:sp>
      <p:sp>
        <p:nvSpPr>
          <p:cNvPr id="5" name="Shape 3"/>
          <p:cNvSpPr/>
          <p:nvPr/>
        </p:nvSpPr>
        <p:spPr>
          <a:xfrm>
            <a:off x="457200" y="1280160"/>
            <a:ext cx="8321040" cy="658368"/>
          </a:xfrm>
          <a:prstGeom prst="rect">
            <a:avLst/>
          </a:prstGeom>
          <a:solidFill>
            <a:srgbClr val="FFDDE0"/>
          </a:solidFill>
          <a:ln w="6350">
            <a:solidFill>
              <a:srgbClr val="E2E8F0"/>
            </a:solidFill>
            <a:prstDash val="solid"/>
          </a:ln>
        </p:spPr>
      </p:sp>
      <p:sp>
        <p:nvSpPr>
          <p:cNvPr id="6" name="Shape 4"/>
          <p:cNvSpPr/>
          <p:nvPr/>
        </p:nvSpPr>
        <p:spPr>
          <a:xfrm>
            <a:off x="457200" y="1280160"/>
            <a:ext cx="502920" cy="658368"/>
          </a:xfrm>
          <a:prstGeom prst="rect">
            <a:avLst/>
          </a:prstGeom>
          <a:solidFill>
            <a:srgbClr val="8B0000"/>
          </a:solidFill>
          <a:ln w="12700">
            <a:solidFill>
              <a:srgbClr val="8B0000"/>
            </a:solidFill>
            <a:prstDash val="solid"/>
          </a:ln>
        </p:spPr>
      </p:sp>
      <p:sp>
        <p:nvSpPr>
          <p:cNvPr id="7" name="Text 5"/>
          <p:cNvSpPr/>
          <p:nvPr/>
        </p:nvSpPr>
        <p:spPr>
          <a:xfrm>
            <a:off x="457200" y="1280160"/>
            <a:ext cx="502920" cy="658368"/>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01</a:t>
            </a:r>
            <a:endParaRPr lang="en-US" sz="1400" dirty="0"/>
          </a:p>
        </p:txBody>
      </p:sp>
      <p:sp>
        <p:nvSpPr>
          <p:cNvPr id="8" name="Text 6"/>
          <p:cNvSpPr/>
          <p:nvPr/>
        </p:nvSpPr>
        <p:spPr>
          <a:xfrm>
            <a:off x="1051560" y="1335024"/>
            <a:ext cx="2926080" cy="256032"/>
          </a:xfrm>
          <a:prstGeom prst="rect">
            <a:avLst/>
          </a:prstGeom>
          <a:noFill/>
          <a:ln/>
        </p:spPr>
        <p:txBody>
          <a:bodyPr wrap="square"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Replace the Dataset File</a:t>
            </a:r>
            <a:endParaRPr lang="en-US" sz="1100" dirty="0"/>
          </a:p>
        </p:txBody>
      </p:sp>
      <p:sp>
        <p:nvSpPr>
          <p:cNvPr id="9" name="Text 7"/>
          <p:cNvSpPr/>
          <p:nvPr/>
        </p:nvSpPr>
        <p:spPr>
          <a:xfrm>
            <a:off x="1051560" y="1600200"/>
            <a:ext cx="7635240" cy="310896"/>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Drop the new globaldeaths.csv into the designated folder: /data/raw/. Ensure the new file has identical column headers. If column names have changed, update the Power Query step 'Renamed Columns' accordingly.</a:t>
            </a:r>
            <a:endParaRPr lang="en-US" sz="950" dirty="0"/>
          </a:p>
        </p:txBody>
      </p:sp>
      <p:sp>
        <p:nvSpPr>
          <p:cNvPr id="10" name="Shape 8"/>
          <p:cNvSpPr/>
          <p:nvPr/>
        </p:nvSpPr>
        <p:spPr>
          <a:xfrm>
            <a:off x="457200" y="2029968"/>
            <a:ext cx="8321040" cy="658368"/>
          </a:xfrm>
          <a:prstGeom prst="rect">
            <a:avLst/>
          </a:prstGeom>
          <a:solidFill>
            <a:srgbClr val="FFFFFF"/>
          </a:solidFill>
          <a:ln w="6350">
            <a:solidFill>
              <a:srgbClr val="E2E8F0"/>
            </a:solidFill>
            <a:prstDash val="solid"/>
          </a:ln>
        </p:spPr>
      </p:sp>
      <p:sp>
        <p:nvSpPr>
          <p:cNvPr id="11" name="Shape 9"/>
          <p:cNvSpPr/>
          <p:nvPr/>
        </p:nvSpPr>
        <p:spPr>
          <a:xfrm>
            <a:off x="457200" y="2029968"/>
            <a:ext cx="502920" cy="658368"/>
          </a:xfrm>
          <a:prstGeom prst="rect">
            <a:avLst/>
          </a:prstGeom>
          <a:solidFill>
            <a:srgbClr val="8B0000"/>
          </a:solidFill>
          <a:ln w="12700">
            <a:solidFill>
              <a:srgbClr val="8B0000"/>
            </a:solidFill>
            <a:prstDash val="solid"/>
          </a:ln>
        </p:spPr>
      </p:sp>
      <p:sp>
        <p:nvSpPr>
          <p:cNvPr id="12" name="Text 10"/>
          <p:cNvSpPr/>
          <p:nvPr/>
        </p:nvSpPr>
        <p:spPr>
          <a:xfrm>
            <a:off x="457200" y="2029968"/>
            <a:ext cx="502920" cy="658368"/>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02</a:t>
            </a:r>
            <a:endParaRPr lang="en-US" sz="1400" dirty="0"/>
          </a:p>
        </p:txBody>
      </p:sp>
      <p:sp>
        <p:nvSpPr>
          <p:cNvPr id="13" name="Text 11"/>
          <p:cNvSpPr/>
          <p:nvPr/>
        </p:nvSpPr>
        <p:spPr>
          <a:xfrm>
            <a:off x="1051560" y="2084832"/>
            <a:ext cx="2926080" cy="256032"/>
          </a:xfrm>
          <a:prstGeom prst="rect">
            <a:avLst/>
          </a:prstGeom>
          <a:noFill/>
          <a:ln/>
        </p:spPr>
        <p:txBody>
          <a:bodyPr wrap="square"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Run Power Query Refresh</a:t>
            </a:r>
            <a:endParaRPr lang="en-US" sz="1100" dirty="0"/>
          </a:p>
        </p:txBody>
      </p:sp>
      <p:sp>
        <p:nvSpPr>
          <p:cNvPr id="14" name="Text 12"/>
          <p:cNvSpPr/>
          <p:nvPr/>
        </p:nvSpPr>
        <p:spPr>
          <a:xfrm>
            <a:off x="1051560" y="2350008"/>
            <a:ext cx="7635240" cy="310896"/>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In Power BI Desktop: Home → Transform Data → Close &amp; Apply. Review the Applied Steps pane for any red error indicators. Fix any type-mismatch errors before proceeding.</a:t>
            </a:r>
            <a:endParaRPr lang="en-US" sz="950" dirty="0"/>
          </a:p>
        </p:txBody>
      </p:sp>
      <p:sp>
        <p:nvSpPr>
          <p:cNvPr id="15" name="Shape 13"/>
          <p:cNvSpPr/>
          <p:nvPr/>
        </p:nvSpPr>
        <p:spPr>
          <a:xfrm>
            <a:off x="457200" y="2779776"/>
            <a:ext cx="8321040" cy="658368"/>
          </a:xfrm>
          <a:prstGeom prst="rect">
            <a:avLst/>
          </a:prstGeom>
          <a:solidFill>
            <a:srgbClr val="FFDDE0"/>
          </a:solidFill>
          <a:ln w="6350">
            <a:solidFill>
              <a:srgbClr val="E2E8F0"/>
            </a:solidFill>
            <a:prstDash val="solid"/>
          </a:ln>
        </p:spPr>
      </p:sp>
      <p:sp>
        <p:nvSpPr>
          <p:cNvPr id="16" name="Shape 14"/>
          <p:cNvSpPr/>
          <p:nvPr/>
        </p:nvSpPr>
        <p:spPr>
          <a:xfrm>
            <a:off x="457200" y="2779776"/>
            <a:ext cx="502920" cy="658368"/>
          </a:xfrm>
          <a:prstGeom prst="rect">
            <a:avLst/>
          </a:prstGeom>
          <a:solidFill>
            <a:srgbClr val="8B0000"/>
          </a:solidFill>
          <a:ln w="12700">
            <a:solidFill>
              <a:srgbClr val="8B0000"/>
            </a:solidFill>
            <a:prstDash val="solid"/>
          </a:ln>
        </p:spPr>
      </p:sp>
      <p:sp>
        <p:nvSpPr>
          <p:cNvPr id="17" name="Text 15"/>
          <p:cNvSpPr/>
          <p:nvPr/>
        </p:nvSpPr>
        <p:spPr>
          <a:xfrm>
            <a:off x="457200" y="2779776"/>
            <a:ext cx="502920" cy="658368"/>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03</a:t>
            </a:r>
            <a:endParaRPr lang="en-US" sz="1400" dirty="0"/>
          </a:p>
        </p:txBody>
      </p:sp>
      <p:sp>
        <p:nvSpPr>
          <p:cNvPr id="18" name="Text 16"/>
          <p:cNvSpPr/>
          <p:nvPr/>
        </p:nvSpPr>
        <p:spPr>
          <a:xfrm>
            <a:off x="1051560" y="2834640"/>
            <a:ext cx="2926080" cy="256032"/>
          </a:xfrm>
          <a:prstGeom prst="rect">
            <a:avLst/>
          </a:prstGeom>
          <a:noFill/>
          <a:ln/>
        </p:spPr>
        <p:txBody>
          <a:bodyPr wrap="square"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Validate Core Measures</a:t>
            </a:r>
            <a:endParaRPr lang="en-US" sz="1100" dirty="0"/>
          </a:p>
        </p:txBody>
      </p:sp>
      <p:sp>
        <p:nvSpPr>
          <p:cNvPr id="19" name="Text 17"/>
          <p:cNvSpPr/>
          <p:nvPr/>
        </p:nvSpPr>
        <p:spPr>
          <a:xfrm>
            <a:off x="1051560" y="3099816"/>
            <a:ext cx="7635240" cy="310896"/>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Check TotalDeaths, YearlyAvgDeaths, and PctOfWorld against the published source figures. A &gt;1% discrepancy signals a data join issue — inspect DimCountry merge keys.</a:t>
            </a:r>
            <a:endParaRPr lang="en-US" sz="950" dirty="0"/>
          </a:p>
        </p:txBody>
      </p:sp>
      <p:sp>
        <p:nvSpPr>
          <p:cNvPr id="20" name="Shape 18"/>
          <p:cNvSpPr/>
          <p:nvPr/>
        </p:nvSpPr>
        <p:spPr>
          <a:xfrm>
            <a:off x="457200" y="3529584"/>
            <a:ext cx="8321040" cy="658368"/>
          </a:xfrm>
          <a:prstGeom prst="rect">
            <a:avLst/>
          </a:prstGeom>
          <a:solidFill>
            <a:srgbClr val="FFFFFF"/>
          </a:solidFill>
          <a:ln w="6350">
            <a:solidFill>
              <a:srgbClr val="E2E8F0"/>
            </a:solidFill>
            <a:prstDash val="solid"/>
          </a:ln>
        </p:spPr>
      </p:sp>
      <p:sp>
        <p:nvSpPr>
          <p:cNvPr id="21" name="Shape 19"/>
          <p:cNvSpPr/>
          <p:nvPr/>
        </p:nvSpPr>
        <p:spPr>
          <a:xfrm>
            <a:off x="457200" y="3529584"/>
            <a:ext cx="502920" cy="658368"/>
          </a:xfrm>
          <a:prstGeom prst="rect">
            <a:avLst/>
          </a:prstGeom>
          <a:solidFill>
            <a:srgbClr val="E85A5A"/>
          </a:solidFill>
          <a:ln w="12700">
            <a:solidFill>
              <a:srgbClr val="8B0000"/>
            </a:solidFill>
            <a:prstDash val="solid"/>
          </a:ln>
        </p:spPr>
      </p:sp>
      <p:sp>
        <p:nvSpPr>
          <p:cNvPr id="22" name="Text 20"/>
          <p:cNvSpPr/>
          <p:nvPr/>
        </p:nvSpPr>
        <p:spPr>
          <a:xfrm>
            <a:off x="457200" y="3529584"/>
            <a:ext cx="502920" cy="658368"/>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04</a:t>
            </a:r>
            <a:endParaRPr lang="en-US" sz="1400" dirty="0"/>
          </a:p>
        </p:txBody>
      </p:sp>
      <p:sp>
        <p:nvSpPr>
          <p:cNvPr id="23" name="Text 21"/>
          <p:cNvSpPr/>
          <p:nvPr/>
        </p:nvSpPr>
        <p:spPr>
          <a:xfrm>
            <a:off x="1051560" y="3584448"/>
            <a:ext cx="2926080" cy="256032"/>
          </a:xfrm>
          <a:prstGeom prst="rect">
            <a:avLst/>
          </a:prstGeom>
          <a:noFill/>
          <a:ln/>
        </p:spPr>
        <p:txBody>
          <a:bodyPr wrap="square"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Update KPI Cards &amp; Slides</a:t>
            </a:r>
            <a:endParaRPr lang="en-US" sz="1100" dirty="0"/>
          </a:p>
        </p:txBody>
      </p:sp>
      <p:sp>
        <p:nvSpPr>
          <p:cNvPr id="24" name="Text 22"/>
          <p:cNvSpPr/>
          <p:nvPr/>
        </p:nvSpPr>
        <p:spPr>
          <a:xfrm>
            <a:off x="1051560" y="3849624"/>
            <a:ext cx="7635240" cy="310896"/>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If replacing with 2020+ data (including COVID years), update the headline KPIs on the Title slide and Dataset Information slide to reflect new totals and date range.</a:t>
            </a:r>
            <a:endParaRPr lang="en-US" sz="950" dirty="0"/>
          </a:p>
        </p:txBody>
      </p:sp>
      <p:sp>
        <p:nvSpPr>
          <p:cNvPr id="25" name="Shape 23"/>
          <p:cNvSpPr/>
          <p:nvPr/>
        </p:nvSpPr>
        <p:spPr>
          <a:xfrm>
            <a:off x="457200" y="4279392"/>
            <a:ext cx="8321040" cy="658368"/>
          </a:xfrm>
          <a:prstGeom prst="rect">
            <a:avLst/>
          </a:prstGeom>
          <a:solidFill>
            <a:srgbClr val="FFDDE0"/>
          </a:solidFill>
          <a:ln w="6350">
            <a:solidFill>
              <a:srgbClr val="E2E8F0"/>
            </a:solidFill>
            <a:prstDash val="solid"/>
          </a:ln>
        </p:spPr>
      </p:sp>
      <p:sp>
        <p:nvSpPr>
          <p:cNvPr id="26" name="Shape 24"/>
          <p:cNvSpPr/>
          <p:nvPr/>
        </p:nvSpPr>
        <p:spPr>
          <a:xfrm>
            <a:off x="457200" y="4279392"/>
            <a:ext cx="502920" cy="658368"/>
          </a:xfrm>
          <a:prstGeom prst="rect">
            <a:avLst/>
          </a:prstGeom>
          <a:solidFill>
            <a:srgbClr val="E85A5A"/>
          </a:solidFill>
          <a:ln w="12700">
            <a:solidFill>
              <a:srgbClr val="8B0000"/>
            </a:solidFill>
            <a:prstDash val="solid"/>
          </a:ln>
        </p:spPr>
      </p:sp>
      <p:sp>
        <p:nvSpPr>
          <p:cNvPr id="27" name="Text 25"/>
          <p:cNvSpPr/>
          <p:nvPr/>
        </p:nvSpPr>
        <p:spPr>
          <a:xfrm>
            <a:off x="457200" y="4279392"/>
            <a:ext cx="502920" cy="658368"/>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05</a:t>
            </a:r>
            <a:endParaRPr lang="en-US" sz="1400" dirty="0"/>
          </a:p>
        </p:txBody>
      </p:sp>
      <p:sp>
        <p:nvSpPr>
          <p:cNvPr id="28" name="Text 26"/>
          <p:cNvSpPr/>
          <p:nvPr/>
        </p:nvSpPr>
        <p:spPr>
          <a:xfrm>
            <a:off x="1051560" y="4334256"/>
            <a:ext cx="2926080" cy="256032"/>
          </a:xfrm>
          <a:prstGeom prst="rect">
            <a:avLst/>
          </a:prstGeom>
          <a:noFill/>
          <a:ln/>
        </p:spPr>
        <p:txBody>
          <a:bodyPr wrap="square"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Re-publish to Power BI Service</a:t>
            </a:r>
            <a:endParaRPr lang="en-US" sz="1100" dirty="0"/>
          </a:p>
        </p:txBody>
      </p:sp>
      <p:sp>
        <p:nvSpPr>
          <p:cNvPr id="29" name="Text 27"/>
          <p:cNvSpPr/>
          <p:nvPr/>
        </p:nvSpPr>
        <p:spPr>
          <a:xfrm>
            <a:off x="1051560" y="4599432"/>
            <a:ext cx="7635240" cy="310896"/>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File → Publish → Select workspace. Enable scheduled refresh (recommend: monthly) via Workspace → Dataset Settings → Scheduled Refresh.</a:t>
            </a:r>
            <a:endParaRPr lang="en-US" sz="950" dirty="0"/>
          </a:p>
        </p:txBody>
      </p:sp>
      <p:sp>
        <p:nvSpPr>
          <p:cNvPr id="30" name="Shape 28"/>
          <p:cNvSpPr/>
          <p:nvPr/>
        </p:nvSpPr>
        <p:spPr>
          <a:xfrm>
            <a:off x="457200" y="5010912"/>
            <a:ext cx="8321040" cy="18288"/>
          </a:xfrm>
          <a:prstGeom prst="rect">
            <a:avLst/>
          </a:prstGeom>
          <a:solidFill>
            <a:srgbClr val="E85A5A"/>
          </a:solidFill>
          <a:ln w="12700">
            <a:solidFill>
              <a:srgbClr val="E85A5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Mortality Analysis 1990–2019</dc:title>
  <dc:subject>PptxGenJS Presentation</dc:subject>
  <dc:creator>Data Analytics Team</dc:creator>
  <cp:lastModifiedBy>Data Analytics Team</cp:lastModifiedBy>
  <cp:revision>1</cp:revision>
  <dcterms:created xsi:type="dcterms:W3CDTF">2026-05-15T19:37:39Z</dcterms:created>
  <dcterms:modified xsi:type="dcterms:W3CDTF">2026-05-15T19:37:39Z</dcterms:modified>
</cp:coreProperties>
</file>